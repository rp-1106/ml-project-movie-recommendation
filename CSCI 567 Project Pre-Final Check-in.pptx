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6858000" cy="9144000"/>
  <p:embeddedFontLst>
    <p:embeddedFont>
      <p:font typeface="Helvetica Neue"/>
      <p:regular r:id="rId18"/>
      <p:bold r:id="rId19"/>
      <p:italic r:id="rId20"/>
      <p:boldItalic r:id="rId21"/>
    </p:embeddedFont>
    <p:embeddedFont>
      <p:font typeface="Helvetica Neue Light"/>
      <p:regular r:id="rId22"/>
      <p:bold r:id="rId23"/>
      <p:italic r:id="rId24"/>
      <p:boldItalic r:id="rId25"/>
    </p:embeddedFont>
    <p:embeddedFont>
      <p:font typeface="Gill Sans"/>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italic.fntdata"/><Relationship Id="rId22" Type="http://schemas.openxmlformats.org/officeDocument/2006/relationships/font" Target="fonts/HelveticaNeueLight-regular.fntdata"/><Relationship Id="rId21" Type="http://schemas.openxmlformats.org/officeDocument/2006/relationships/font" Target="fonts/HelveticaNeue-boldItalic.fntdata"/><Relationship Id="rId24" Type="http://schemas.openxmlformats.org/officeDocument/2006/relationships/font" Target="fonts/HelveticaNeueLight-italic.fntdata"/><Relationship Id="rId23" Type="http://schemas.openxmlformats.org/officeDocument/2006/relationships/font" Target="fonts/HelveticaNeue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GillSans-regular.fntdata"/><Relationship Id="rId25" Type="http://schemas.openxmlformats.org/officeDocument/2006/relationships/font" Target="fonts/HelveticaNeueLight-boldItalic.fntdata"/><Relationship Id="rId27" Type="http://schemas.openxmlformats.org/officeDocument/2006/relationships/font" Target="fonts/Gill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HelveticaNeue-bold.fntdata"/><Relationship Id="rId18" Type="http://schemas.openxmlformats.org/officeDocument/2006/relationships/font" Target="fonts/Helvetica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indent="-228600" lvl="1" marL="9144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2pPr>
            <a:lvl3pPr indent="-228600" lvl="2" marL="13716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3pPr>
            <a:lvl4pPr indent="-228600" lvl="3" marL="18288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4pPr>
            <a:lvl5pPr indent="-228600" lvl="4" marL="228600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01573ab17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e01573ab17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e01573ab17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a:t>While other approaches to recommendation such as collaborative filtering and content-based filtering primarily focus on predicting the next likely item a user might click on, they do not explicitly account for the quality of engagement with that content.</a:t>
            </a:r>
            <a:endParaRPr/>
          </a:p>
          <a:p>
            <a:pPr indent="0" lvl="0" marL="0" rtl="0" algn="l">
              <a:lnSpc>
                <a:spcPct val="115000"/>
              </a:lnSpc>
              <a:spcBef>
                <a:spcPts val="1200"/>
              </a:spcBef>
              <a:spcAft>
                <a:spcPts val="0"/>
              </a:spcAft>
              <a:buClr>
                <a:schemeClr val="dk1"/>
              </a:buClr>
              <a:buSzPts val="1100"/>
              <a:buFont typeface="Arial"/>
              <a:buNone/>
            </a:pPr>
            <a:r>
              <a:rPr lang="en-US"/>
              <a:t>For example, a user may have watched a slow-paced movie most recently, but that does not necessarily imply that the user prefers slow-paced content. The system may recommend similar slow-paced movies purely based on recency or similarity, even if the user did not fully engage with that content.</a:t>
            </a:r>
            <a:endParaRPr/>
          </a:p>
          <a:p>
            <a:pPr indent="0" lvl="0" marL="0" rtl="0" algn="l">
              <a:lnSpc>
                <a:spcPct val="115000"/>
              </a:lnSpc>
              <a:spcBef>
                <a:spcPts val="1200"/>
              </a:spcBef>
              <a:spcAft>
                <a:spcPts val="0"/>
              </a:spcAft>
              <a:buClr>
                <a:schemeClr val="dk1"/>
              </a:buClr>
              <a:buSzPts val="1100"/>
              <a:buFont typeface="Arial"/>
              <a:buNone/>
            </a:pPr>
            <a:r>
              <a:rPr lang="en-US"/>
              <a:t>Similarly, collaborative filtering methods may recommend items based on patterns observed in similar users, but they do not distinguish between content that users merely interacted with and content that led to deeper engagement, such as full completion or repeated viewing.</a:t>
            </a:r>
            <a:endParaRPr/>
          </a:p>
          <a:p>
            <a:pPr indent="0" lvl="0" marL="0" rtl="0" algn="l">
              <a:lnSpc>
                <a:spcPct val="115000"/>
              </a:lnSpc>
              <a:spcBef>
                <a:spcPts val="1200"/>
              </a:spcBef>
              <a:spcAft>
                <a:spcPts val="0"/>
              </a:spcAft>
              <a:buClr>
                <a:schemeClr val="dk1"/>
              </a:buClr>
              <a:buSzPts val="1100"/>
              <a:buFont typeface="Arial"/>
              <a:buNone/>
            </a:pPr>
            <a:r>
              <a:rPr lang="en-US"/>
              <a:t>Recent approaches using sequential models such as RNNs and Transformers attempt to model user behavior over time by capturing session-level or sequential patterns. However, these models are still primarily optimized for next-item prediction and do not explicitly incorporate engagement signals such as watch duration, or interaction intensity.</a:t>
            </a:r>
            <a:endParaRPr/>
          </a:p>
          <a:p>
            <a:pPr indent="0" lvl="0" marL="0" rtl="0" algn="l">
              <a:lnSpc>
                <a:spcPct val="115000"/>
              </a:lnSpc>
              <a:spcBef>
                <a:spcPts val="1200"/>
              </a:spcBef>
              <a:spcAft>
                <a:spcPts val="0"/>
              </a:spcAft>
              <a:buClr>
                <a:schemeClr val="dk1"/>
              </a:buClr>
              <a:buSzPts val="1100"/>
              <a:buFont typeface="Arial"/>
              <a:buNone/>
            </a:pPr>
            <a:r>
              <a:rPr lang="en-US"/>
              <a:t>While prior approaches such as collaborative filtering and content-based filtering focus on predicting the next likely item a user might click on, they do not explicitly account for the quality of engagement with that content.</a:t>
            </a:r>
            <a:endParaRPr/>
          </a:p>
          <a:p>
            <a:pPr indent="0" lvl="0" marL="0" rtl="0" algn="l">
              <a:lnSpc>
                <a:spcPct val="115000"/>
              </a:lnSpc>
              <a:spcBef>
                <a:spcPts val="1200"/>
              </a:spcBef>
              <a:spcAft>
                <a:spcPts val="0"/>
              </a:spcAft>
              <a:buClr>
                <a:schemeClr val="dk1"/>
              </a:buClr>
              <a:buSzPts val="1100"/>
              <a:buFont typeface="Arial"/>
              <a:buNone/>
            </a:pPr>
            <a:r>
              <a:rPr lang="en-US"/>
              <a:t>For example, a user may have watched a slow-paced movie most recently, but that does not necessarily imply that the user prefers slow-paced content. The system may recommend similar slow-paced movies purely based on recency or similarity, even if the user did not fully engage with that content.</a:t>
            </a:r>
            <a:endParaRPr/>
          </a:p>
          <a:p>
            <a:pPr indent="0" lvl="0" marL="0" rtl="0" algn="l">
              <a:lnSpc>
                <a:spcPct val="115000"/>
              </a:lnSpc>
              <a:spcBef>
                <a:spcPts val="1200"/>
              </a:spcBef>
              <a:spcAft>
                <a:spcPts val="0"/>
              </a:spcAft>
              <a:buClr>
                <a:schemeClr val="dk1"/>
              </a:buClr>
              <a:buSzPts val="1100"/>
              <a:buFont typeface="Arial"/>
              <a:buNone/>
            </a:pPr>
            <a:r>
              <a:rPr lang="en-US"/>
              <a:t>Similarly, collaborative filtering methods may recommend items based on patterns observed in similar users, but they do not distinguish between content that users merely interacted with and content that led to deeper engagement, such as full completion or repeated viewing.</a:t>
            </a:r>
            <a:endParaRPr/>
          </a:p>
          <a:p>
            <a:pPr indent="0" lvl="0" marL="0" rtl="0" algn="l">
              <a:lnSpc>
                <a:spcPct val="115000"/>
              </a:lnSpc>
              <a:spcBef>
                <a:spcPts val="1200"/>
              </a:spcBef>
              <a:spcAft>
                <a:spcPts val="0"/>
              </a:spcAft>
              <a:buClr>
                <a:schemeClr val="dk1"/>
              </a:buClr>
              <a:buSzPts val="1100"/>
              <a:buFont typeface="Arial"/>
              <a:buNone/>
            </a:pPr>
            <a:r>
              <a:rPr lang="en-US"/>
              <a:t>Recent approaches using sequential models such as RNNs and Transformers attempt to model user behavior over time by capturing session-level or sequential patterns. However, these models are still primarily optimized for next-item prediction and do not explicitly incorporate engagement signals such as completion rate, watch duration, or interaction intensity.</a:t>
            </a:r>
            <a:endParaRPr/>
          </a:p>
          <a:p>
            <a:pPr indent="0" lvl="0" marL="0" rtl="0" algn="l">
              <a:lnSpc>
                <a:spcPct val="115000"/>
              </a:lnSpc>
              <a:spcBef>
                <a:spcPts val="1200"/>
              </a:spcBef>
              <a:spcAft>
                <a:spcPts val="0"/>
              </a:spcAft>
              <a:buClr>
                <a:schemeClr val="dk1"/>
              </a:buClr>
              <a:buSzPts val="1100"/>
              <a:buFont typeface="Arial"/>
              <a:buNone/>
            </a:pPr>
            <a:r>
              <a:rPr lang="en-US"/>
              <a:t>In this project, we aim to predict the next click by incorporating engagement-aware signals into the recommendation process.</a:t>
            </a:r>
            <a:endParaRPr/>
          </a:p>
          <a:p>
            <a:pPr indent="0" lvl="0" marL="0" rtl="0" algn="l">
              <a:lnSpc>
                <a:spcPct val="115000"/>
              </a:lnSpc>
              <a:spcBef>
                <a:spcPts val="1200"/>
              </a:spcBef>
              <a:spcAft>
                <a:spcPts val="0"/>
              </a:spcAft>
              <a:buClr>
                <a:schemeClr val="dk1"/>
              </a:buClr>
              <a:buSzPts val="1100"/>
              <a:buFont typeface="Arial"/>
              <a:buNone/>
            </a:pPr>
            <a:r>
              <a:rPr lang="en-US"/>
              <a:t>Specifically, we combine:</a:t>
            </a:r>
            <a:endParaRPr/>
          </a:p>
          <a:p>
            <a:pPr indent="-298450" lvl="0" marL="457200" rtl="0" algn="l">
              <a:lnSpc>
                <a:spcPct val="115000"/>
              </a:lnSpc>
              <a:spcBef>
                <a:spcPts val="1200"/>
              </a:spcBef>
              <a:spcAft>
                <a:spcPts val="0"/>
              </a:spcAft>
              <a:buClr>
                <a:schemeClr val="dk1"/>
              </a:buClr>
              <a:buSzPts val="1100"/>
              <a:buChar char="●"/>
            </a:pPr>
            <a:r>
              <a:rPr lang="en-US"/>
              <a:t>Content similarity (genres, metadata, semantic features)</a:t>
            </a:r>
            <a:endParaRPr/>
          </a:p>
          <a:p>
            <a:pPr indent="-298450" lvl="0" marL="457200" rtl="0" algn="l">
              <a:lnSpc>
                <a:spcPct val="115000"/>
              </a:lnSpc>
              <a:spcBef>
                <a:spcPts val="0"/>
              </a:spcBef>
              <a:spcAft>
                <a:spcPts val="0"/>
              </a:spcAft>
              <a:buClr>
                <a:schemeClr val="dk1"/>
              </a:buClr>
              <a:buSzPts val="1100"/>
              <a:buChar char="●"/>
            </a:pPr>
            <a:r>
              <a:rPr lang="en-US"/>
              <a:t>User behavior patterns (watch history, frequency, recency)</a:t>
            </a:r>
            <a:endParaRPr/>
          </a:p>
          <a:p>
            <a:pPr indent="-298450" lvl="0" marL="457200" rtl="0" algn="l">
              <a:lnSpc>
                <a:spcPct val="115000"/>
              </a:lnSpc>
              <a:spcBef>
                <a:spcPts val="0"/>
              </a:spcBef>
              <a:spcAft>
                <a:spcPts val="0"/>
              </a:spcAft>
              <a:buClr>
                <a:schemeClr val="dk1"/>
              </a:buClr>
              <a:buSzPts val="1100"/>
              <a:buChar char="●"/>
            </a:pPr>
            <a:r>
              <a:rPr lang="en-US"/>
              <a:t>Engagement signals (watch duration, repeated interaction)</a:t>
            </a:r>
            <a:endParaRPr/>
          </a:p>
          <a:p>
            <a:pPr indent="0" lvl="0" marL="0" rtl="0" algn="l">
              <a:lnSpc>
                <a:spcPct val="115000"/>
              </a:lnSpc>
              <a:spcBef>
                <a:spcPts val="1200"/>
              </a:spcBef>
              <a:spcAft>
                <a:spcPts val="0"/>
              </a:spcAft>
              <a:buClr>
                <a:schemeClr val="dk1"/>
              </a:buClr>
              <a:buSzPts val="1100"/>
              <a:buFont typeface="Arial"/>
              <a:buNone/>
            </a:pPr>
            <a:r>
              <a:rPr lang="en-US"/>
              <a:t>to build a recommendation system that prioritizes content likely to result in sustained engagement rather than just immediate interaction.</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2" name="Google Shape;27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62811883a_2_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latin typeface="Arial"/>
                <a:ea typeface="Arial"/>
                <a:cs typeface="Arial"/>
                <a:sym typeface="Arial"/>
              </a:rPr>
              <a:t>Speaker Notes — Dataset Slide</a:t>
            </a:r>
            <a:endParaRPr b="1"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This slide covers our dataset and the key preprocessing decisions we made before training any model.</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We're using the Netflix Audience Behaviour UK Movies dataset — a real-world click-stream collected from opted-in UK subscribers between 2017 and 2019. Importantly, this is implicit feedback — there are no star ratings, just watch events, which makes it a realistic and challenging setting for a recommendation system.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User Features</a:t>
            </a:r>
            <a:r>
              <a:rPr lang="en-US" sz="1100">
                <a:latin typeface="Arial"/>
                <a:ea typeface="Arial"/>
                <a:cs typeface="Arial"/>
                <a:sym typeface="Arial"/>
              </a:rPr>
              <a:t> (46 columns) capture behavioural patterns per user — including total clicks, unique items watched, repeat ratio, session-level stats (count, avg length, gap between sessions), viewing time preferences (mean hour, weekend ratio), tenure, engagement tier, preferred release decade, and </a:t>
            </a:r>
            <a:r>
              <a:rPr b="1" lang="en-US" sz="1100">
                <a:latin typeface="Arial"/>
                <a:ea typeface="Arial"/>
                <a:cs typeface="Arial"/>
                <a:sym typeface="Arial"/>
              </a:rPr>
              <a:t>genre affinity scores</a:t>
            </a:r>
            <a:r>
              <a:rPr lang="en-US" sz="1100">
                <a:latin typeface="Arial"/>
                <a:ea typeface="Arial"/>
                <a:cs typeface="Arial"/>
                <a:sym typeface="Arial"/>
              </a:rPr>
              <a:t> across 20+ genres derived from their watch history.</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Item Features</a:t>
            </a:r>
            <a:r>
              <a:rPr lang="en-US" sz="1100">
                <a:latin typeface="Arial"/>
                <a:ea typeface="Arial"/>
                <a:cs typeface="Arial"/>
                <a:sym typeface="Arial"/>
              </a:rPr>
              <a:t> (47 columns) capture movie-level metadata and popularity signals — including title, release year, decade bucket, runtime, TMDB popularity score, vote average, original language, log-transformed click popularity, repeat watch ratio, item age, and </a:t>
            </a:r>
            <a:r>
              <a:rPr b="1" lang="en-US" sz="1100">
                <a:latin typeface="Arial"/>
                <a:ea typeface="Arial"/>
                <a:cs typeface="Arial"/>
                <a:sym typeface="Arial"/>
              </a:rPr>
              <a:t>one-hot encoded genre tags</a:t>
            </a:r>
            <a:r>
              <a:rPr lang="en-US" sz="1100">
                <a:latin typeface="Arial"/>
                <a:ea typeface="Arial"/>
                <a:cs typeface="Arial"/>
                <a:sym typeface="Arial"/>
              </a:rPr>
              <a:t> across the same genre taxonomy.</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On why we didn't remove users with very few interactions —</a:t>
            </a:r>
            <a:r>
              <a:rPr lang="en-US" sz="1100">
                <a:latin typeface="Arial"/>
                <a:ea typeface="Arial"/>
                <a:cs typeface="Arial"/>
                <a:sym typeface="Arial"/>
              </a:rPr>
              <a:t> We deliberately kept users with as little as 1 movie watch. The reason is that removing them would mean we're only evaluating our models on already-engaged, easy-to-recommend-for users, which inflates your metrics artificially. In a real Netflix deployment, a huge portion of your user base are low-activity users — ignoring them means your model has never seen that pattern and completely fails them at inference time. That's the cold-start problem, and rather than sidestepping it by cleaning it away, we kept those users in to force our models to handle it. Our results — particularly BERT4Rec achieving HR@10 of 0.3085 and NDCG@10 of 0.2081 — were obtained on this full, difficult distribution, not a cherry-picked subset of power users. So the numbers are honest.</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On why we removed the top end —</a:t>
            </a:r>
            <a:r>
              <a:rPr lang="en-US" sz="1100">
                <a:latin typeface="Arial"/>
                <a:ea typeface="Arial"/>
                <a:cs typeface="Arial"/>
                <a:sym typeface="Arial"/>
              </a:rPr>
              <a:t> The 299 super-users who watched 38 to 210 unique movies are a completely different behavioural profile — likely bots, power testers, or internal accounts. Their interaction sequences are so long and atypical that during training they contribute disproportionately to the loss, pulling the model to optimise for behaviour that represents 0.18% of users. In embedding-based models like BERT4Rec, these users can anchor the latent space in ways that hurt everyone else's recommendations. Removing them is not cherry-picking — it's noise removal.</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On what would happen if we kept them —</a:t>
            </a:r>
            <a:r>
              <a:rPr lang="en-US" sz="1100">
                <a:latin typeface="Arial"/>
                <a:ea typeface="Arial"/>
                <a:cs typeface="Arial"/>
                <a:sym typeface="Arial"/>
              </a:rPr>
              <a:t> If we had kept the super-users, we would likely see slightly better aggregate metrics because the model overfits to those rich interaction histories, but real-world performance on typical users — the ones with 1 to 5 watches — would degrade. Essentially you'd be optimising for the wrong population.</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On cold-start —</a:t>
            </a:r>
            <a:r>
              <a:rPr lang="en-US" sz="1100">
                <a:latin typeface="Arial"/>
                <a:ea typeface="Arial"/>
                <a:cs typeface="Arial"/>
                <a:sym typeface="Arial"/>
              </a:rPr>
              <a:t> We acknowledge cold-start is a genuine limitation here. With 133,000 users having fewer than 5 interactions, collaborative signals are very weak. Our partial mitigation is the TMDB-enriched item and user feature tables — by incorporating genre affinities, popularity, runtime, and release decade, models have content-based signals to fall back on even when interaction history is sparse.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78" name="Google Shape;278;g3e62811883a_2_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204e35d98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this section, we evaluate a range of baseline architectures covering </a:t>
            </a:r>
            <a:r>
              <a:rPr b="1" lang="en-US" sz="1100">
                <a:latin typeface="Arial"/>
                <a:ea typeface="Arial"/>
                <a:cs typeface="Arial"/>
                <a:sym typeface="Arial"/>
              </a:rPr>
              <a:t>sequential, graph-based, and hybrid models</a:t>
            </a:r>
            <a:r>
              <a:rPr lang="en-US" sz="1100">
                <a:latin typeface="Arial"/>
                <a:ea typeface="Arial"/>
                <a:cs typeface="Arial"/>
                <a:sym typeface="Arial"/>
              </a:rPr>
              <a:t>. For sequential modelling, we use GRU4Rec, SASRec, and BERT4Rec, which capture user behaviour from ordered interaction sequences. For graph-based modelling, we use LightGCN, which learns collaborative filtering signals from the user–item interaction graph. We also explore hybrid approaches such as GRU-LightGCN and SASRec-LightGCN, where we combine candidate generation with reranking to integrate both sequential and graph signals.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move beyond pure accuracy, we extend our baseline models using a </a:t>
            </a:r>
            <a:r>
              <a:rPr b="1" lang="en-US" sz="1100">
                <a:latin typeface="Arial"/>
                <a:ea typeface="Arial"/>
                <a:cs typeface="Arial"/>
                <a:sym typeface="Arial"/>
              </a:rPr>
              <a:t>multi-objective loss function</a:t>
            </a:r>
            <a:r>
              <a:rPr lang="en-US" sz="1100">
                <a:latin typeface="Arial"/>
                <a:ea typeface="Arial"/>
                <a:cs typeface="Arial"/>
                <a:sym typeface="Arial"/>
              </a:rPr>
              <a:t>. In addition to the standard cross-entropy loss for next-item prediction, we incorporate diversity and novelty terms, and optionally a KL regularisation term. The goal here is to improve overall recommendation quality by encouraging the model to produce more varied and less popularity-biased recommendations.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training, we use session-based sequences ordered by timestamp. We adopt a leave-one-out style split, where the last item is used for testing, the second-to-last for validation, and the remaining sequence for training. Models are trained using mini-batches with the Adam optimizer, along with early stopping and hyperparameter tuning. Finally, we evaluate performance using ranking-based metrics such as HR@10, NDCG@10, MRR, and a diversity metric based on cosine similarity between recommended items.</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1. HR@K (Hit Rate @ K)</a:t>
            </a:r>
            <a:endParaRPr b="1" sz="17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Measures whether the correct item appears in the top-K recommendations.</a:t>
            </a:r>
            <a:endParaRPr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2. NDCG@K (Normalized Discounted Cumulative Gain)</a:t>
            </a:r>
            <a:endParaRPr b="1" sz="17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Measures ranking quality, giving higher weight if the correct item appears near the top.</a:t>
            </a:r>
            <a:endParaRPr sz="1100">
              <a:latin typeface="Arial"/>
              <a:ea typeface="Arial"/>
              <a:cs typeface="Arial"/>
              <a:sym typeface="Arial"/>
            </a:endParaRPr>
          </a:p>
          <a:p>
            <a:pPr indent="0" lvl="0" marL="0" rtl="0" algn="l">
              <a:lnSpc>
                <a:spcPct val="115000"/>
              </a:lnSpc>
              <a:spcBef>
                <a:spcPts val="1800"/>
              </a:spcBef>
              <a:spcAft>
                <a:spcPts val="0"/>
              </a:spcAft>
              <a:buNone/>
            </a:pPr>
            <a:r>
              <a:rPr b="1" lang="en-US" sz="1700">
                <a:latin typeface="Arial"/>
                <a:ea typeface="Arial"/>
                <a:cs typeface="Arial"/>
                <a:sym typeface="Arial"/>
              </a:rPr>
              <a:t>3. MRR (Mean Reciprocal Rank)</a:t>
            </a:r>
            <a:endParaRPr b="1" sz="1700">
              <a:latin typeface="Arial"/>
              <a:ea typeface="Arial"/>
              <a:cs typeface="Arial"/>
              <a:sym typeface="Arial"/>
            </a:endParaRPr>
          </a:p>
          <a:p>
            <a:pPr indent="0" lvl="0" marL="381000" marR="381000" rtl="0" algn="l">
              <a:lnSpc>
                <a:spcPct val="115000"/>
              </a:lnSpc>
              <a:spcBef>
                <a:spcPts val="1200"/>
              </a:spcBef>
              <a:spcAft>
                <a:spcPts val="0"/>
              </a:spcAft>
              <a:buNone/>
            </a:pPr>
            <a:r>
              <a:rPr lang="en-US" sz="1100">
                <a:latin typeface="Arial"/>
                <a:ea typeface="Arial"/>
                <a:cs typeface="Arial"/>
                <a:sym typeface="Arial"/>
              </a:rPr>
              <a:t>Measures how early the correct item appears in the ranked list.</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p:txBody>
      </p:sp>
      <p:sp>
        <p:nvSpPr>
          <p:cNvPr id="288" name="Google Shape;288;g3d204e35d98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62811883a_2_4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62811883a_2_4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BERT4Rec randomly masks a subset of items in the sequence during training and learns to predict those masked items using the full surrounding context. This means the model uses bidirectional self-attention, so each item representation is informed by both past and future interactions. As a result, it learns a richer representation of user preferences compared to strictly sequential models.</a:t>
            </a:r>
            <a:endParaRPr/>
          </a:p>
          <a:p>
            <a:pPr indent="0" lvl="0" marL="0" rtl="0" algn="l">
              <a:lnSpc>
                <a:spcPct val="115000"/>
              </a:lnSpc>
              <a:spcBef>
                <a:spcPts val="1200"/>
              </a:spcBef>
              <a:spcAft>
                <a:spcPts val="0"/>
              </a:spcAft>
              <a:buClr>
                <a:schemeClr val="dk1"/>
              </a:buClr>
              <a:buSzPts val="1100"/>
              <a:buFont typeface="Arial"/>
              <a:buNone/>
            </a:pPr>
            <a:r>
              <a:rPr lang="en-US"/>
              <a:t>In our implementation, we extend the original BERT4Rec by incorporating item features like genres and popularity, and user features such as engagement and preferences, which are injected through gated projections before the transformer layers. We also replace the simple output layer with a deeper classifier MLP and use a popularity-debiased loss, which helps prevent the model from over-recommending popular items. At inference time, we append a MASK token at the end of the sequence and ask the model to predict the most likely next item. </a:t>
            </a:r>
            <a:endParaRPr/>
          </a:p>
          <a:p>
            <a:pPr indent="0" lvl="0" marL="0" rtl="0" algn="l">
              <a:lnSpc>
                <a:spcPct val="115000"/>
              </a:lnSpc>
              <a:spcBef>
                <a:spcPts val="1200"/>
              </a:spcBef>
              <a:spcAft>
                <a:spcPts val="0"/>
              </a:spcAft>
              <a:buClr>
                <a:schemeClr val="dk1"/>
              </a:buClr>
              <a:buSzPts val="1100"/>
              <a:buFont typeface="Arial"/>
              <a:buNone/>
            </a:pPr>
            <a:r>
              <a:rPr lang="en-US"/>
              <a:t>🎤 SASRec — Speaker Notes</a:t>
            </a:r>
            <a:endParaRPr/>
          </a:p>
          <a:p>
            <a:pPr indent="0" lvl="0" marL="0" rtl="0" algn="l">
              <a:lnSpc>
                <a:spcPct val="115000"/>
              </a:lnSpc>
              <a:spcBef>
                <a:spcPts val="1200"/>
              </a:spcBef>
              <a:spcAft>
                <a:spcPts val="0"/>
              </a:spcAft>
              <a:buClr>
                <a:schemeClr val="dk1"/>
              </a:buClr>
              <a:buSzPts val="1100"/>
              <a:buFont typeface="Arial"/>
              <a:buNone/>
            </a:pPr>
            <a:r>
              <a:rPr lang="en-US"/>
              <a:t>SASRec uses causal self-attention on past inputs in a seq to predict the next-item, like real-world recommendation scenarios, where predictions are based only on historical behaviour. SASRec iincorporates item and user features through gated fusion mechanisms, allowing the model to combine behavioural signals with side information. We also apply a popularity-debiased loss and use Pre-LayerNorm for more stable training. </a:t>
            </a:r>
            <a:endParaRPr/>
          </a:p>
          <a:p>
            <a:pPr indent="0" lvl="0" marL="0" rtl="0" algn="l">
              <a:lnSpc>
                <a:spcPct val="115000"/>
              </a:lnSpc>
              <a:spcBef>
                <a:spcPts val="1200"/>
              </a:spcBef>
              <a:spcAft>
                <a:spcPts val="0"/>
              </a:spcAft>
              <a:buClr>
                <a:schemeClr val="dk1"/>
              </a:buClr>
              <a:buSzPts val="1100"/>
              <a:buFont typeface="Arial"/>
              <a:buNone/>
            </a:pPr>
            <a:r>
              <a:rPr lang="en-US"/>
              <a:t>One limitation of SASRec is that it depends heavily on the amount of past interaction data. Since it cannot use future context, it may struggle with very short sequences, which is relevant in our dataset where many users have limited history. However, SASRec is efficient and effective at capturing recency effects and temporal dynamics, making it a strong baseline for sequential recommendation tasks.</a:t>
            </a:r>
            <a:endParaRPr/>
          </a:p>
          <a:p>
            <a:pPr indent="0" lvl="0" marL="0" rtl="0" algn="l">
              <a:lnSpc>
                <a:spcPct val="115000"/>
              </a:lnSpc>
              <a:spcBef>
                <a:spcPts val="1200"/>
              </a:spcBef>
              <a:spcAft>
                <a:spcPts val="0"/>
              </a:spcAft>
              <a:buClr>
                <a:schemeClr val="dk1"/>
              </a:buClr>
              <a:buSzPts val="1100"/>
              <a:buFont typeface="Arial"/>
              <a:buNone/>
            </a:pPr>
            <a:r>
              <a:rPr b="1" lang="en-US" sz="1900"/>
              <a:t>Bert Rec</a:t>
            </a:r>
            <a:endParaRPr b="1" sz="1900"/>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it scores like this:</a:t>
            </a:r>
            <a:r>
              <a:rPr lang="en-US" sz="1100">
                <a:latin typeface="Arial"/>
                <a:ea typeface="Arial"/>
                <a:cs typeface="Arial"/>
                <a:sym typeface="Arial"/>
              </a:rPr>
              <a:t> Bidirectional attention + masked training lets it use the </a:t>
            </a:r>
            <a:r>
              <a:rPr i="1" lang="en-US" sz="1100">
                <a:latin typeface="Arial"/>
                <a:ea typeface="Arial"/>
                <a:cs typeface="Arial"/>
                <a:sym typeface="Arial"/>
              </a:rPr>
              <a:t>entire sequence</a:t>
            </a:r>
            <a:r>
              <a:rPr lang="en-US" sz="1100">
                <a:latin typeface="Arial"/>
                <a:ea typeface="Arial"/>
                <a:cs typeface="Arial"/>
                <a:sym typeface="Arial"/>
              </a:rPr>
              <a:t> and your </a:t>
            </a:r>
            <a:r>
              <a:rPr b="1" lang="en-US" sz="1100">
                <a:latin typeface="Arial"/>
                <a:ea typeface="Arial"/>
                <a:cs typeface="Arial"/>
                <a:sym typeface="Arial"/>
              </a:rPr>
              <a:t>feature fusion</a:t>
            </a:r>
            <a:r>
              <a:rPr lang="en-US" sz="1100">
                <a:latin typeface="Arial"/>
                <a:ea typeface="Arial"/>
                <a:cs typeface="Arial"/>
                <a:sym typeface="Arial"/>
              </a:rPr>
              <a:t>, so it extracts strong signal even from 1–5 interactions.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What’s limiting:</a:t>
            </a:r>
            <a:r>
              <a:rPr lang="en-US" sz="1100">
                <a:latin typeface="Arial"/>
                <a:ea typeface="Arial"/>
                <a:cs typeface="Arial"/>
                <a:sym typeface="Arial"/>
              </a:rPr>
              <a:t> Tends to </a:t>
            </a:r>
            <a:r>
              <a:rPr b="1" lang="en-US" sz="1100">
                <a:latin typeface="Arial"/>
                <a:ea typeface="Arial"/>
                <a:cs typeface="Arial"/>
                <a:sym typeface="Arial"/>
              </a:rPr>
              <a:t>bias toward popular/co-occurring items</a:t>
            </a:r>
            <a:r>
              <a:rPr lang="en-US" sz="1100">
                <a:latin typeface="Arial"/>
                <a:ea typeface="Arial"/>
                <a:cs typeface="Arial"/>
                <a:sym typeface="Arial"/>
              </a:rPr>
              <a:t> and isn’t causal, so it can’t be cleanly used for RL-style optimisation.</a:t>
            </a:r>
            <a:endParaRPr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SASRec (your case)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Why it scores like this:</a:t>
            </a:r>
            <a:r>
              <a:rPr lang="en-US" sz="1100">
                <a:latin typeface="Arial"/>
                <a:ea typeface="Arial"/>
                <a:cs typeface="Arial"/>
                <a:sym typeface="Arial"/>
              </a:rPr>
              <a:t> Captures </a:t>
            </a:r>
            <a:r>
              <a:rPr b="1" lang="en-US" sz="1100">
                <a:latin typeface="Arial"/>
                <a:ea typeface="Arial"/>
                <a:cs typeface="Arial"/>
                <a:sym typeface="Arial"/>
              </a:rPr>
              <a:t>recency and order</a:t>
            </a:r>
            <a:r>
              <a:rPr lang="en-US" sz="1100">
                <a:latin typeface="Arial"/>
                <a:ea typeface="Arial"/>
                <a:cs typeface="Arial"/>
                <a:sym typeface="Arial"/>
              </a:rPr>
              <a:t> with causal attention; works well when even short histories have meaningful order.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What’s limiting:</a:t>
            </a:r>
            <a:r>
              <a:rPr lang="en-US" sz="1100">
                <a:latin typeface="Arial"/>
                <a:ea typeface="Arial"/>
                <a:cs typeface="Arial"/>
                <a:sym typeface="Arial"/>
              </a:rPr>
              <a:t> With very short sequences it has </a:t>
            </a:r>
            <a:r>
              <a:rPr b="1" lang="en-US" sz="1100">
                <a:latin typeface="Arial"/>
                <a:ea typeface="Arial"/>
                <a:cs typeface="Arial"/>
                <a:sym typeface="Arial"/>
              </a:rPr>
              <a:t>less context than BERT4Rec</a:t>
            </a:r>
            <a:r>
              <a:rPr lang="en-US" sz="1100">
                <a:latin typeface="Arial"/>
                <a:ea typeface="Arial"/>
                <a:cs typeface="Arial"/>
                <a:sym typeface="Arial"/>
              </a:rPr>
              <a:t> (no right-side info), so it can’t compensate for sparsity as well.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1200"/>
              </a:spcAft>
              <a:buNone/>
            </a:pPr>
            <a:r>
              <a:t/>
            </a:r>
            <a:endParaRPr/>
          </a:p>
        </p:txBody>
      </p:sp>
      <p:sp>
        <p:nvSpPr>
          <p:cNvPr id="298" name="Google Shape;298;g3e62811883a_2_4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62811883a_2_8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62811883a_2_8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LightGCN models the recommendation problem as a </a:t>
            </a:r>
            <a:r>
              <a:rPr b="1" lang="en-US" sz="1100">
                <a:latin typeface="Arial"/>
                <a:ea typeface="Arial"/>
                <a:cs typeface="Arial"/>
                <a:sym typeface="Arial"/>
              </a:rPr>
              <a:t>user–item interaction graph</a:t>
            </a:r>
            <a:r>
              <a:rPr lang="en-US" sz="1100">
                <a:latin typeface="Arial"/>
                <a:ea typeface="Arial"/>
                <a:cs typeface="Arial"/>
                <a:sym typeface="Arial"/>
              </a:rPr>
              <a:t>, where users and movies are nodes and an edge represents that a user has watched a movie. Unlike sequential models, it ignores the order of interactions and focuses purely on </a:t>
            </a:r>
            <a:r>
              <a:rPr b="1" lang="en-US" sz="1100">
                <a:latin typeface="Arial"/>
                <a:ea typeface="Arial"/>
                <a:cs typeface="Arial"/>
                <a:sym typeface="Arial"/>
              </a:rPr>
              <a:t>collaborative filtering</a:t>
            </a:r>
            <a:r>
              <a:rPr lang="en-US" sz="1100">
                <a:latin typeface="Arial"/>
                <a:ea typeface="Arial"/>
                <a:cs typeface="Arial"/>
                <a:sym typeface="Arial"/>
              </a:rPr>
              <a:t>, meaning it learns that users who watch similar movies tend to have similar preferences. This allows the model to capture global patterns such as “users who watched this movie also watched these other movies.”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core mechanism of LightGCN is </a:t>
            </a:r>
            <a:r>
              <a:rPr b="1" lang="en-US" sz="1100">
                <a:latin typeface="Arial"/>
                <a:ea typeface="Arial"/>
                <a:cs typeface="Arial"/>
                <a:sym typeface="Arial"/>
              </a:rPr>
              <a:t>graph propagation</a:t>
            </a:r>
            <a:r>
              <a:rPr lang="en-US" sz="1100">
                <a:latin typeface="Arial"/>
                <a:ea typeface="Arial"/>
                <a:cs typeface="Arial"/>
                <a:sym typeface="Arial"/>
              </a:rPr>
              <a:t>. Each user and item starts with an initial embedding, and at each layer, these embeddings are updated by averaging information from their neighbours. For example, a movie embedding is influenced by all users who watched it, and those users are influenced by other movies they watched. After multiple layers, the model captures higher-order relationships, meaning a movie can become similar to other movies indirectly through shared users. The final embedding is taken as an average across all layers, which helps produce stable representations.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However, in our dataset, most users have very few interactions—typically between 1 and 5 movies—which results in a </a:t>
            </a:r>
            <a:r>
              <a:rPr b="1" lang="en-US" sz="1100">
                <a:latin typeface="Arial"/>
                <a:ea typeface="Arial"/>
                <a:cs typeface="Arial"/>
                <a:sym typeface="Arial"/>
              </a:rPr>
              <a:t>sparse graph with weak connectivity</a:t>
            </a:r>
            <a:r>
              <a:rPr lang="en-US" sz="1100">
                <a:latin typeface="Arial"/>
                <a:ea typeface="Arial"/>
                <a:cs typeface="Arial"/>
                <a:sym typeface="Arial"/>
              </a:rPr>
              <a:t>. This limits LightGCN’s ability to learn strong collaborative signals, since there are fewer overlapping interactions between users. To address this, we use LightGCN not as a standalone model, but as an </a:t>
            </a:r>
            <a:r>
              <a:rPr b="1" lang="en-US" sz="1100">
                <a:latin typeface="Arial"/>
                <a:ea typeface="Arial"/>
                <a:cs typeface="Arial"/>
                <a:sym typeface="Arial"/>
              </a:rPr>
              <a:t>embedding enhancer</a:t>
            </a: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800"/>
              </a:spcBef>
              <a:spcAft>
                <a:spcPts val="0"/>
              </a:spcAft>
              <a:buNone/>
            </a:pPr>
            <a:r>
              <a:rPr b="1" lang="en-US" sz="1700">
                <a:latin typeface="Arial"/>
                <a:ea typeface="Arial"/>
                <a:cs typeface="Arial"/>
                <a:sym typeface="Arial"/>
              </a:rPr>
              <a:t>LightGCN (your case)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Why it scores like this:</a:t>
            </a:r>
            <a:r>
              <a:rPr lang="en-US" sz="1100">
                <a:latin typeface="Arial"/>
                <a:ea typeface="Arial"/>
                <a:cs typeface="Arial"/>
                <a:sym typeface="Arial"/>
              </a:rPr>
              <a:t> Learns from </a:t>
            </a:r>
            <a:r>
              <a:rPr b="1" lang="en-US" sz="1100">
                <a:latin typeface="Arial"/>
                <a:ea typeface="Arial"/>
                <a:cs typeface="Arial"/>
                <a:sym typeface="Arial"/>
              </a:rPr>
              <a:t>user–item co-consumption</a:t>
            </a:r>
            <a:r>
              <a:rPr lang="en-US" sz="1100">
                <a:latin typeface="Arial"/>
                <a:ea typeface="Arial"/>
                <a:cs typeface="Arial"/>
                <a:sym typeface="Arial"/>
              </a:rPr>
              <a:t>, but your graph is </a:t>
            </a:r>
            <a:r>
              <a:rPr b="1" lang="en-US" sz="1100">
                <a:latin typeface="Arial"/>
                <a:ea typeface="Arial"/>
                <a:cs typeface="Arial"/>
                <a:sym typeface="Arial"/>
              </a:rPr>
              <a:t>sparse</a:t>
            </a:r>
            <a:r>
              <a:rPr lang="en-US" sz="1100">
                <a:latin typeface="Arial"/>
                <a:ea typeface="Arial"/>
                <a:cs typeface="Arial"/>
                <a:sym typeface="Arial"/>
              </a:rPr>
              <a:t> (few interactions per user), so embeddings are weak and drift toward popular items.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What’s limiting:</a:t>
            </a:r>
            <a:r>
              <a:rPr lang="en-US" sz="1100">
                <a:latin typeface="Arial"/>
                <a:ea typeface="Arial"/>
                <a:cs typeface="Arial"/>
                <a:sym typeface="Arial"/>
              </a:rPr>
              <a:t> </a:t>
            </a:r>
            <a:r>
              <a:rPr b="1" lang="en-US" sz="1100">
                <a:latin typeface="Arial"/>
                <a:ea typeface="Arial"/>
                <a:cs typeface="Arial"/>
                <a:sym typeface="Arial"/>
              </a:rPr>
              <a:t>Low user overlap → weak multi-hop signal</a:t>
            </a:r>
            <a:r>
              <a:rPr lang="en-US" sz="1100">
                <a:latin typeface="Arial"/>
                <a:ea typeface="Arial"/>
                <a:cs typeface="Arial"/>
                <a:sym typeface="Arial"/>
              </a:rPr>
              <a:t>; features are added later and can’t fully replace missing behavioural links.</a:t>
            </a:r>
            <a:endParaRPr b="1" sz="1700">
              <a:latin typeface="Arial"/>
              <a:ea typeface="Arial"/>
              <a:cs typeface="Arial"/>
              <a:sym typeface="Arial"/>
            </a:endParaRPr>
          </a:p>
        </p:txBody>
      </p:sp>
      <p:sp>
        <p:nvSpPr>
          <p:cNvPr id="309" name="Google Shape;309;g3e62811883a_2_8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62811883a_2_1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e62811883a_2_1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hybrid model is designed to integrate</a:t>
            </a:r>
            <a:r>
              <a:rPr b="1" lang="en-US" sz="1100">
                <a:latin typeface="Arial"/>
                <a:ea typeface="Arial"/>
                <a:cs typeface="Arial"/>
                <a:sym typeface="Arial"/>
              </a:rPr>
              <a:t> multiple sources of information to better represent user preferences</a:t>
            </a:r>
            <a:r>
              <a:rPr lang="en-US" sz="1100">
                <a:latin typeface="Arial"/>
                <a:ea typeface="Arial"/>
                <a:cs typeface="Arial"/>
                <a:sym typeface="Arial"/>
              </a:rPr>
              <a:t>. In our setup, we combine </a:t>
            </a:r>
            <a:r>
              <a:rPr b="1" lang="en-US" sz="1100">
                <a:latin typeface="Arial"/>
                <a:ea typeface="Arial"/>
                <a:cs typeface="Arial"/>
                <a:sym typeface="Arial"/>
              </a:rPr>
              <a:t>graph-based embeddings from LightGCN</a:t>
            </a:r>
            <a:r>
              <a:rPr lang="en-US" sz="1100">
                <a:latin typeface="Arial"/>
                <a:ea typeface="Arial"/>
                <a:cs typeface="Arial"/>
                <a:sym typeface="Arial"/>
              </a:rPr>
              <a:t>, which capture relationships between users and items, with </a:t>
            </a:r>
            <a:r>
              <a:rPr b="1" lang="en-US" sz="1100">
                <a:latin typeface="Arial"/>
                <a:ea typeface="Arial"/>
                <a:cs typeface="Arial"/>
                <a:sym typeface="Arial"/>
              </a:rPr>
              <a:t>sequential modelling using a GRU</a:t>
            </a:r>
            <a:r>
              <a:rPr lang="en-US" sz="1100">
                <a:latin typeface="Arial"/>
                <a:ea typeface="Arial"/>
                <a:cs typeface="Arial"/>
                <a:sym typeface="Arial"/>
              </a:rPr>
              <a:t>, which captures how user preferences evolve over time. This allows the model to incorporate both long-range behavioural patterns and short-term user intent.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process begins with LightGCN, which operates on the user–item interaction graph to generate </a:t>
            </a:r>
            <a:r>
              <a:rPr b="1" lang="en-US" sz="1100">
                <a:latin typeface="Arial"/>
                <a:ea typeface="Arial"/>
                <a:cs typeface="Arial"/>
                <a:sym typeface="Arial"/>
              </a:rPr>
              <a:t>graph-enriched item embeddings</a:t>
            </a:r>
            <a:r>
              <a:rPr lang="en-US" sz="1100">
                <a:latin typeface="Arial"/>
                <a:ea typeface="Arial"/>
                <a:cs typeface="Arial"/>
                <a:sym typeface="Arial"/>
              </a:rPr>
              <a:t>. These embeddings reflect patterns such as users who tend to watch similar sets of movies. We then combine these graph embeddings with base item embeddings, item features like genre and popularity, and user-level features such as engagement and preferences. This fusion is done using </a:t>
            </a:r>
            <a:r>
              <a:rPr b="1" lang="en-US" sz="1100">
                <a:latin typeface="Arial"/>
                <a:ea typeface="Arial"/>
                <a:cs typeface="Arial"/>
                <a:sym typeface="Arial"/>
              </a:rPr>
              <a:t>learnable gating mechanisms</a:t>
            </a:r>
            <a:r>
              <a:rPr lang="en-US" sz="1100">
                <a:latin typeface="Arial"/>
                <a:ea typeface="Arial"/>
                <a:cs typeface="Arial"/>
                <a:sym typeface="Arial"/>
              </a:rPr>
              <a:t>, which allow the model to dynamically control how much it relies on each source of information.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resulting sequence of enriched item representations is then passed through a </a:t>
            </a:r>
            <a:r>
              <a:rPr b="1" lang="en-US" sz="1100">
                <a:latin typeface="Arial"/>
                <a:ea typeface="Arial"/>
                <a:cs typeface="Arial"/>
                <a:sym typeface="Arial"/>
              </a:rPr>
              <a:t>two-layer GRU</a:t>
            </a:r>
            <a:r>
              <a:rPr lang="en-US" sz="1100">
                <a:latin typeface="Arial"/>
                <a:ea typeface="Arial"/>
                <a:cs typeface="Arial"/>
                <a:sym typeface="Arial"/>
              </a:rPr>
              <a:t>, which processes the interactions in order and updates a hidden state at each timestep. This hidden state acts as a summary of the user’s evolving preferences. The final hidden state represents the user’s current intent and is used to predict the next item. By combining collaborative signals, content features, and temporal dynamics in a unified framework, the hybrid model provides a more comprehensive representation of user behaviour.</a:t>
            </a:r>
            <a:endParaRPr sz="1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GRU–LightGCN (Hybrid, your case)</a:t>
            </a:r>
            <a:endParaRPr b="1" sz="17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Why it scores like this:</a:t>
            </a:r>
            <a:r>
              <a:rPr lang="en-US" sz="1100">
                <a:latin typeface="Arial"/>
                <a:ea typeface="Arial"/>
                <a:cs typeface="Arial"/>
                <a:sym typeface="Arial"/>
              </a:rPr>
              <a:t> Combines </a:t>
            </a:r>
            <a:r>
              <a:rPr b="1" lang="en-US" sz="1100">
                <a:latin typeface="Arial"/>
                <a:ea typeface="Arial"/>
                <a:cs typeface="Arial"/>
                <a:sym typeface="Arial"/>
              </a:rPr>
              <a:t>GRU (sequence/recency)</a:t>
            </a:r>
            <a:r>
              <a:rPr lang="en-US" sz="1100">
                <a:latin typeface="Arial"/>
                <a:ea typeface="Arial"/>
                <a:cs typeface="Arial"/>
                <a:sym typeface="Arial"/>
              </a:rPr>
              <a:t> with </a:t>
            </a:r>
            <a:r>
              <a:rPr b="1" lang="en-US" sz="1100">
                <a:latin typeface="Arial"/>
                <a:ea typeface="Arial"/>
                <a:cs typeface="Arial"/>
                <a:sym typeface="Arial"/>
              </a:rPr>
              <a:t>LightGCN (collaborative)</a:t>
            </a:r>
            <a:r>
              <a:rPr lang="en-US" sz="1100">
                <a:latin typeface="Arial"/>
                <a:ea typeface="Arial"/>
                <a:cs typeface="Arial"/>
                <a:sym typeface="Arial"/>
              </a:rPr>
              <a:t> plus features, so it improves over graph-only by using temporal signal.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What’s limiting:</a:t>
            </a:r>
            <a:r>
              <a:rPr lang="en-US" sz="1100">
                <a:latin typeface="Arial"/>
                <a:ea typeface="Arial"/>
                <a:cs typeface="Arial"/>
                <a:sym typeface="Arial"/>
              </a:rPr>
              <a:t> </a:t>
            </a:r>
            <a:r>
              <a:rPr b="1" lang="en-US" sz="1100">
                <a:latin typeface="Arial"/>
                <a:ea typeface="Arial"/>
                <a:cs typeface="Arial"/>
                <a:sym typeface="Arial"/>
              </a:rPr>
              <a:t>Graph contribution is small</a:t>
            </a:r>
            <a:r>
              <a:rPr lang="en-US" sz="1100">
                <a:latin typeface="Arial"/>
                <a:ea typeface="Arial"/>
                <a:cs typeface="Arial"/>
                <a:sym typeface="Arial"/>
              </a:rPr>
              <a:t> (gating downweights it due to sparsity) and </a:t>
            </a:r>
            <a:r>
              <a:rPr b="1" lang="en-US" sz="1100">
                <a:latin typeface="Arial"/>
                <a:ea typeface="Arial"/>
                <a:cs typeface="Arial"/>
                <a:sym typeface="Arial"/>
              </a:rPr>
              <a:t>early stopping</a:t>
            </a:r>
            <a:r>
              <a:rPr lang="en-US" sz="1100">
                <a:latin typeface="Arial"/>
                <a:ea typeface="Arial"/>
                <a:cs typeface="Arial"/>
                <a:sym typeface="Arial"/>
              </a:rPr>
              <a:t> prevents full convergence, so gains remain modest.</a:t>
            </a:r>
            <a:endParaRPr/>
          </a:p>
        </p:txBody>
      </p:sp>
      <p:sp>
        <p:nvSpPr>
          <p:cNvPr id="319" name="Google Shape;319;g3e62811883a_2_110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204e35d98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br>
              <a:rPr b="1" lang="en-US" sz="1100">
                <a:latin typeface="Arial"/>
                <a:ea typeface="Arial"/>
                <a:cs typeface="Arial"/>
                <a:sym typeface="Arial"/>
              </a:rPr>
            </a:br>
            <a:r>
              <a:rPr i="1" lang="en-US" sz="1100">
                <a:latin typeface="Arial"/>
                <a:ea typeface="Arial"/>
                <a:cs typeface="Arial"/>
                <a:sym typeface="Arial"/>
              </a:rPr>
              <a:t>Quick model overview:</a:t>
            </a:r>
            <a:br>
              <a:rPr i="1" lang="en-US" sz="1100">
                <a:latin typeface="Arial"/>
                <a:ea typeface="Arial"/>
                <a:cs typeface="Arial"/>
                <a:sym typeface="Arial"/>
              </a:rPr>
            </a:br>
            <a:endParaRPr i="1" sz="1100">
              <a:latin typeface="Arial"/>
              <a:ea typeface="Arial"/>
              <a:cs typeface="Arial"/>
              <a:sym typeface="Arial"/>
            </a:endParaRPr>
          </a:p>
          <a:p>
            <a:pPr indent="-298450" lvl="1" marL="9144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BERT4Rec</a:t>
            </a:r>
            <a:r>
              <a:rPr lang="en-US" sz="1100">
                <a:latin typeface="Arial"/>
                <a:ea typeface="Arial"/>
                <a:cs typeface="Arial"/>
                <a:sym typeface="Arial"/>
              </a:rPr>
              <a:t> uses a bidirectional transformer, meaning it looks at the full sequence context (past + future) to predict the next item — this gives it a strong advantage, especially with short user histories.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SASRec</a:t>
            </a:r>
            <a:r>
              <a:rPr lang="en-US" sz="1100">
                <a:latin typeface="Arial"/>
                <a:ea typeface="Arial"/>
                <a:cs typeface="Arial"/>
                <a:sym typeface="Arial"/>
              </a:rPr>
              <a:t> is also transformer-based but causal (left-to-right), so it only uses past behavior — slightly more realistic but less informative here.</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GRU-LightGCN</a:t>
            </a:r>
            <a:r>
              <a:rPr lang="en-US" sz="1100">
                <a:latin typeface="Arial"/>
                <a:ea typeface="Arial"/>
                <a:cs typeface="Arial"/>
                <a:sym typeface="Arial"/>
              </a:rPr>
              <a:t> combines sequential modeling (GRU for order/recency) with graph-based collaborative filtering (LightGCN for user-item relationships).</a:t>
            </a:r>
            <a:br>
              <a:rPr lang="en-US" sz="1100">
                <a:latin typeface="Arial"/>
                <a:ea typeface="Arial"/>
                <a:cs typeface="Arial"/>
                <a:sym typeface="Arial"/>
              </a:rPr>
            </a:b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i="1" lang="en-US" sz="1100">
                <a:latin typeface="Arial"/>
                <a:ea typeface="Arial"/>
                <a:cs typeface="Arial"/>
                <a:sym typeface="Arial"/>
              </a:rPr>
              <a:t>Metrics explained:</a:t>
            </a:r>
            <a:br>
              <a:rPr i="1" lang="en-US" sz="1100">
                <a:latin typeface="Arial"/>
                <a:ea typeface="Arial"/>
                <a:cs typeface="Arial"/>
                <a:sym typeface="Arial"/>
              </a:rPr>
            </a:br>
            <a:endParaRPr i="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HR@K (Hit Rate):</a:t>
            </a:r>
            <a:r>
              <a:rPr lang="en-US" sz="1100">
                <a:latin typeface="Arial"/>
                <a:ea typeface="Arial"/>
                <a:cs typeface="Arial"/>
                <a:sym typeface="Arial"/>
              </a:rPr>
              <a:t> Did we recommend the correct item in the top K? (binary success metric)</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NDCG@K:</a:t>
            </a:r>
            <a:r>
              <a:rPr lang="en-US" sz="1100">
                <a:latin typeface="Arial"/>
                <a:ea typeface="Arial"/>
                <a:cs typeface="Arial"/>
                <a:sym typeface="Arial"/>
              </a:rPr>
              <a:t> Measures ranking quality — rewards placing the correct item higher in the list.</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MRR (Mean Reciprocal Rank):</a:t>
            </a:r>
            <a:r>
              <a:rPr lang="en-US" sz="1100">
                <a:latin typeface="Arial"/>
                <a:ea typeface="Arial"/>
                <a:cs typeface="Arial"/>
                <a:sym typeface="Arial"/>
              </a:rPr>
              <a:t> Focuses on how early the correct item appears — higher if it’s ranked near the top.</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i="1" lang="en-US" sz="1100">
                <a:latin typeface="Arial"/>
                <a:ea typeface="Arial"/>
                <a:cs typeface="Arial"/>
                <a:sym typeface="Arial"/>
              </a:rPr>
              <a:t>Key intuition:</a:t>
            </a:r>
            <a:br>
              <a:rPr i="1" lang="en-US" sz="1100">
                <a:latin typeface="Arial"/>
                <a:ea typeface="Arial"/>
                <a:cs typeface="Arial"/>
                <a:sym typeface="Arial"/>
              </a:rPr>
            </a:br>
            <a:endParaRPr i="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HR tells you </a:t>
            </a:r>
            <a:r>
              <a:rPr i="1" lang="en-US" sz="1100">
                <a:latin typeface="Arial"/>
                <a:ea typeface="Arial"/>
                <a:cs typeface="Arial"/>
                <a:sym typeface="Arial"/>
              </a:rPr>
              <a:t>if</a:t>
            </a:r>
            <a:r>
              <a:rPr lang="en-US" sz="1100">
                <a:latin typeface="Arial"/>
                <a:ea typeface="Arial"/>
                <a:cs typeface="Arial"/>
                <a:sym typeface="Arial"/>
              </a:rPr>
              <a:t> you got it right,</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NDCG and MRR tell you </a:t>
            </a:r>
            <a:r>
              <a:rPr i="1" lang="en-US" sz="1100">
                <a:latin typeface="Arial"/>
                <a:ea typeface="Arial"/>
                <a:cs typeface="Arial"/>
                <a:sym typeface="Arial"/>
              </a:rPr>
              <a:t>how well ranked</a:t>
            </a:r>
            <a:r>
              <a:rPr lang="en-US" sz="1100">
                <a:latin typeface="Arial"/>
                <a:ea typeface="Arial"/>
                <a:cs typeface="Arial"/>
                <a:sym typeface="Arial"/>
              </a:rPr>
              <a:t> your correct prediction was.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Reranker</a:t>
            </a:r>
            <a:r>
              <a:rPr lang="en-US" sz="1100">
                <a:latin typeface="Arial"/>
                <a:ea typeface="Arial"/>
                <a:cs typeface="Arial"/>
                <a:sym typeface="Arial"/>
              </a:rPr>
              <a:t> reorders top candidate items using additional features without changing the base model — very stable and effective.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Aux Fine-tuning</a:t>
            </a:r>
            <a:r>
              <a:rPr lang="en-US" sz="1100">
                <a:latin typeface="Arial"/>
                <a:ea typeface="Arial"/>
                <a:cs typeface="Arial"/>
                <a:sym typeface="Arial"/>
              </a:rPr>
              <a:t> adds extra training objectives (diversity, novelty) to improve recommendations.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DPO</a:t>
            </a:r>
            <a:r>
              <a:rPr lang="en-US" sz="1100">
                <a:latin typeface="Arial"/>
                <a:ea typeface="Arial"/>
                <a:cs typeface="Arial"/>
                <a:sym typeface="Arial"/>
              </a:rPr>
              <a:t> learns preferences between correct vs incorrect items, but can overfit.</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Actor-Critic RL</a:t>
            </a:r>
            <a:r>
              <a:rPr lang="en-US" sz="1100">
                <a:latin typeface="Arial"/>
                <a:ea typeface="Arial"/>
                <a:cs typeface="Arial"/>
                <a:sym typeface="Arial"/>
              </a:rPr>
              <a:t> tries to optimize a reward function, but fails here since recommendation is a single-step problem.</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a:t>
            </a:r>
            <a:r>
              <a:rPr b="1" lang="en-US" sz="1100">
                <a:latin typeface="Arial"/>
                <a:ea typeface="Arial"/>
                <a:cs typeface="Arial"/>
                <a:sym typeface="Arial"/>
              </a:rPr>
              <a:t>implicit-feedback recommendation tasks</a:t>
            </a:r>
            <a:r>
              <a:rPr lang="en-US" sz="1100">
                <a:latin typeface="Arial"/>
                <a:ea typeface="Arial"/>
                <a:cs typeface="Arial"/>
                <a:sym typeface="Arial"/>
              </a:rPr>
              <a:t> (like next-item prediction):</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HR@K</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HR@10</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Weak: &lt; 0.10</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Average: 0.10 – 0.25</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Strong: 0.25 – 0.40</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Excellent: &gt; 0.40</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NDCG@K</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NDCG@10</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Weak: &lt; 0.08</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Average: 0.08 – 0.15</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Strong: 0.15 – 0.25</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Excellent: &gt; 0.25</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MRR</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Weak: &lt; 0.05</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Average: 0.05 – 0.15</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Strong: 0.15 – 0.30</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Excellent: &gt; 0.30</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ranges are consistent with benchmarks on datasets like: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MovieLens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Amazon product data</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Yelp / retail logs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
        <p:nvSpPr>
          <p:cNvPr id="333" name="Google Shape;333;g3d204e35d98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01573ab17_0_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latin typeface="Arial"/>
                <a:ea typeface="Arial"/>
                <a:cs typeface="Arial"/>
                <a:sym typeface="Arial"/>
              </a:rPr>
              <a:t>Representation</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First, we represent both users and movies in a way the system can understand</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For movies, we can use </a:t>
            </a:r>
            <a:r>
              <a:rPr i="1" lang="en-US" sz="1100">
                <a:latin typeface="Arial"/>
                <a:ea typeface="Arial"/>
                <a:cs typeface="Arial"/>
                <a:sym typeface="Arial"/>
              </a:rPr>
              <a:t>content-based features</a:t>
            </a:r>
            <a:r>
              <a:rPr lang="en-US" sz="1100">
                <a:latin typeface="Arial"/>
                <a:ea typeface="Arial"/>
                <a:cs typeface="Arial"/>
                <a:sym typeface="Arial"/>
              </a:rPr>
              <a:t> like genre, actors, director, or even text descriptions using TF-IDF. This helps us understand what the movie is about.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users, we build </a:t>
            </a:r>
            <a:r>
              <a:rPr i="1" lang="en-US" sz="1100">
                <a:latin typeface="Arial"/>
                <a:ea typeface="Arial"/>
                <a:cs typeface="Arial"/>
                <a:sym typeface="Arial"/>
              </a:rPr>
              <a:t>embeddings</a:t>
            </a:r>
            <a:r>
              <a:rPr lang="en-US" sz="1100">
                <a:latin typeface="Arial"/>
                <a:ea typeface="Arial"/>
                <a:cs typeface="Arial"/>
                <a:sym typeface="Arial"/>
              </a:rPr>
              <a:t> based on their behavior—like what they’ve watched, liked, or rated.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also use </a:t>
            </a:r>
            <a:r>
              <a:rPr i="1" lang="en-US" sz="1100">
                <a:latin typeface="Arial"/>
                <a:ea typeface="Arial"/>
                <a:cs typeface="Arial"/>
                <a:sym typeface="Arial"/>
              </a:rPr>
              <a:t>latent factors</a:t>
            </a:r>
            <a:r>
              <a:rPr lang="en-US" sz="1100">
                <a:latin typeface="Arial"/>
                <a:ea typeface="Arial"/>
                <a:cs typeface="Arial"/>
                <a:sym typeface="Arial"/>
              </a:rPr>
              <a:t> from techniques like matrix factorization. These capture hidden patterns—for example, a user might prefer ‘dark thrillers’ even if that’s not explicitly labeled.</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So overall, representation is about turning users and movies into vectors in the same space.</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Candidate Generation</a:t>
            </a:r>
            <a:endParaRPr b="1"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Next, we narrow down from thousands of movies to a smaller set of candidates.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can do this using </a:t>
            </a:r>
            <a:r>
              <a:rPr i="1" lang="en-US" sz="1100">
                <a:latin typeface="Arial"/>
                <a:ea typeface="Arial"/>
                <a:cs typeface="Arial"/>
                <a:sym typeface="Arial"/>
              </a:rPr>
              <a:t>nearest neighbors</a:t>
            </a:r>
            <a:r>
              <a:rPr lang="en-US" sz="1100">
                <a:latin typeface="Arial"/>
                <a:ea typeface="Arial"/>
                <a:cs typeface="Arial"/>
                <a:sym typeface="Arial"/>
              </a:rPr>
              <a:t>. For example, if a user liked ‘Inception,’ we find similar movies either based on content or latent embeddings.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can also use </a:t>
            </a:r>
            <a:r>
              <a:rPr i="1" lang="en-US" sz="1100">
                <a:latin typeface="Arial"/>
                <a:ea typeface="Arial"/>
                <a:cs typeface="Arial"/>
                <a:sym typeface="Arial"/>
              </a:rPr>
              <a:t>latent-factor retrieval</a:t>
            </a:r>
            <a:r>
              <a:rPr lang="en-US" sz="1100">
                <a:latin typeface="Arial"/>
                <a:ea typeface="Arial"/>
                <a:cs typeface="Arial"/>
                <a:sym typeface="Arial"/>
              </a:rPr>
              <a:t>, where we match users to movies using their learned embeddings.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If we consider recent activity, </a:t>
            </a:r>
            <a:r>
              <a:rPr i="1" lang="en-US" sz="1100">
                <a:latin typeface="Arial"/>
                <a:ea typeface="Arial"/>
                <a:cs typeface="Arial"/>
                <a:sym typeface="Arial"/>
              </a:rPr>
              <a:t>session-aware retrieval</a:t>
            </a:r>
            <a:r>
              <a:rPr lang="en-US" sz="1100">
                <a:latin typeface="Arial"/>
                <a:ea typeface="Arial"/>
                <a:cs typeface="Arial"/>
                <a:sym typeface="Arial"/>
              </a:rPr>
              <a:t> helps—like recommending movies similar to what the user just watched.</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At this stage, we’re not being perfect—we’re just quickly finding a few hundred good candidates.</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Similarity Scoring</a:t>
            </a:r>
            <a:endParaRPr b="1"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Now we score how relevant each candidate movie is for the user.</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use similarity metrics like </a:t>
            </a:r>
            <a:r>
              <a:rPr i="1" lang="en-US" sz="1100">
                <a:latin typeface="Arial"/>
                <a:ea typeface="Arial"/>
                <a:cs typeface="Arial"/>
                <a:sym typeface="Arial"/>
              </a:rPr>
              <a:t>cosine similarity</a:t>
            </a:r>
            <a:r>
              <a:rPr lang="en-US" sz="1100">
                <a:latin typeface="Arial"/>
                <a:ea typeface="Arial"/>
                <a:cs typeface="Arial"/>
                <a:sym typeface="Arial"/>
              </a:rPr>
              <a:t> or </a:t>
            </a:r>
            <a:r>
              <a:rPr i="1" lang="en-US" sz="1100">
                <a:latin typeface="Arial"/>
                <a:ea typeface="Arial"/>
                <a:cs typeface="Arial"/>
                <a:sym typeface="Arial"/>
              </a:rPr>
              <a:t>dot product</a:t>
            </a:r>
            <a:r>
              <a:rPr lang="en-US" sz="1100">
                <a:latin typeface="Arial"/>
                <a:ea typeface="Arial"/>
                <a:cs typeface="Arial"/>
                <a:sym typeface="Arial"/>
              </a:rPr>
              <a:t> between user and movie vectors.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can also incorporate signals like ratings or watch time to create </a:t>
            </a:r>
            <a:r>
              <a:rPr i="1" lang="en-US" sz="1100">
                <a:latin typeface="Arial"/>
                <a:ea typeface="Arial"/>
                <a:cs typeface="Arial"/>
                <a:sym typeface="Arial"/>
              </a:rPr>
              <a:t>weighted similarity scores</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For more advanced systems, we might use a </a:t>
            </a:r>
            <a:r>
              <a:rPr i="1" lang="en-US" sz="1100">
                <a:latin typeface="Arial"/>
                <a:ea typeface="Arial"/>
                <a:cs typeface="Arial"/>
                <a:sym typeface="Arial"/>
              </a:rPr>
              <a:t>neural network</a:t>
            </a:r>
            <a:r>
              <a:rPr lang="en-US" sz="1100">
                <a:latin typeface="Arial"/>
                <a:ea typeface="Arial"/>
                <a:cs typeface="Arial"/>
                <a:sym typeface="Arial"/>
              </a:rPr>
              <a:t>, like an MLP, to learn complex relationships between user preferences and movie features.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This step gives us a relevance score for each candidate.</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Ranking</a:t>
            </a:r>
            <a:endParaRPr b="1"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Finally, we rank the movies and select the top recommendations.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typically return the </a:t>
            </a:r>
            <a:r>
              <a:rPr i="1" lang="en-US" sz="1100">
                <a:latin typeface="Arial"/>
                <a:ea typeface="Arial"/>
                <a:cs typeface="Arial"/>
                <a:sym typeface="Arial"/>
              </a:rPr>
              <a:t>Top-K</a:t>
            </a:r>
            <a:r>
              <a:rPr lang="en-US" sz="1100">
                <a:latin typeface="Arial"/>
                <a:ea typeface="Arial"/>
                <a:cs typeface="Arial"/>
                <a:sym typeface="Arial"/>
              </a:rPr>
              <a:t> movies—like the top 10 most relevant ones.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We may also apply </a:t>
            </a:r>
            <a:r>
              <a:rPr i="1" lang="en-US" sz="1100">
                <a:latin typeface="Arial"/>
                <a:ea typeface="Arial"/>
                <a:cs typeface="Arial"/>
                <a:sym typeface="Arial"/>
              </a:rPr>
              <a:t>re-ranking or post-processing</a:t>
            </a:r>
            <a:r>
              <a:rPr lang="en-US" sz="1100">
                <a:latin typeface="Arial"/>
                <a:ea typeface="Arial"/>
                <a:cs typeface="Arial"/>
                <a:sym typeface="Arial"/>
              </a:rPr>
              <a:t> to improve diversity, avoid repetition, or promote newer content.</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So the final list isn’t just the most similar—it’s also balanced and personalized.</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Experiment:</a:t>
            </a:r>
            <a:br>
              <a:rPr lang="en-US" sz="1100">
                <a:latin typeface="Arial"/>
                <a:ea typeface="Arial"/>
                <a:cs typeface="Arial"/>
                <a:sym typeface="Arial"/>
              </a:rPr>
            </a:br>
            <a:br>
              <a:rPr lang="en-US" sz="1100">
                <a:latin typeface="Arial"/>
                <a:ea typeface="Arial"/>
                <a:cs typeface="Arial"/>
                <a:sym typeface="Arial"/>
              </a:rPr>
            </a:br>
            <a:r>
              <a:rPr b="1" lang="en-US" sz="1100">
                <a:latin typeface="Arial"/>
                <a:ea typeface="Arial"/>
                <a:cs typeface="Arial"/>
                <a:sym typeface="Arial"/>
              </a:rPr>
              <a:t>Set up a simple offline benchmark</a:t>
            </a:r>
            <a:endParaRPr b="1" sz="1100">
              <a:latin typeface="Arial"/>
              <a:ea typeface="Arial"/>
              <a:cs typeface="Arial"/>
              <a:sym typeface="Arial"/>
            </a:endParaRPr>
          </a:p>
          <a:p>
            <a:pPr indent="-298450" lvl="1" marL="9144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Use a movie ratings dataset with user history, item metadata, and optional watch-time/session data.</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Split data into train/validation/test by time, so older interactions train the model and newer ones test it.</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Build a few baseline candidate generators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Content-based retrieval using genre, cast, year, and TF-IDF over descriptions.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Latent-factor retrieval using matrix factorization embeddings.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Session-aware retrieval using recent clicks or watches from the current session.</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Compare each one alone, then combine candidates from all three.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Test multiple similarity scoring methods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Score candidates with cosine similarity on embeddings.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Compare against dot product and Euclidean distance.</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Add a weighted similarity version that includes rating strength or watch time.</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Optional: test a small MLP neural scorer on top of user and item features.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Evaluate ranking quality</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Rank Top-K recommendations for each user.</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Measure Precision@K, Recall@K, NDCG@K, and Hit Rate@K.</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Also track catalog coverage and diversity so results are not too repetitive.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Run ablation experiments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Content-only vs latent-only vs session-only.</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Single scorer vs weighted scorer vs neural scorer.</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Candidate generation only vs candidate generation plus re-ranking.</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shows which component actually improves performance.</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Add simple re-ranking and post-processing tests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Re-rank to boost freshness, diversity, or under-exposed movies.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Filter out already watched items.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Compare recommendation quality before and after post-processing.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Do a lightweight online-style simulation</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Replay historical sessions and check whether the next watched movie appears in Top-K.</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For ranking, test whether higher-ranked items better match future user choices.</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Define success criteria</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Improvement over a popularity baseline.</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Better Recall@10 or NDCG@10 without hurting diversity too much.</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Stable performance across user groups such as new users, active users, and sparse-history users.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If you want, I can turn this into a 1-slide experiment plan or a resume-style project summary.</a:t>
            </a: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
        <p:nvSpPr>
          <p:cNvPr id="343" name="Google Shape;343;g3e01573ab17_0_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204e35d98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98450" lvl="1" marL="9144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Reranker</a:t>
            </a:r>
            <a:r>
              <a:rPr lang="en-US" sz="1100">
                <a:latin typeface="Arial"/>
                <a:ea typeface="Arial"/>
                <a:cs typeface="Arial"/>
                <a:sym typeface="Arial"/>
              </a:rPr>
              <a:t> reorders top candidate items using additional features without changing the base model — very stable and effective.</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Aux Fine-tuning</a:t>
            </a:r>
            <a:r>
              <a:rPr lang="en-US" sz="1100">
                <a:latin typeface="Arial"/>
                <a:ea typeface="Arial"/>
                <a:cs typeface="Arial"/>
                <a:sym typeface="Arial"/>
              </a:rPr>
              <a:t> adds extra training objectives (diversity, novelty) to improve recommendations.</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DPO</a:t>
            </a:r>
            <a:r>
              <a:rPr lang="en-US" sz="1100">
                <a:latin typeface="Arial"/>
                <a:ea typeface="Arial"/>
                <a:cs typeface="Arial"/>
                <a:sym typeface="Arial"/>
              </a:rPr>
              <a:t> learns preferences between correct vs incorrect items, but can overfit.</a:t>
            </a:r>
            <a:br>
              <a:rPr lang="en-US" sz="1100">
                <a:latin typeface="Arial"/>
                <a:ea typeface="Arial"/>
                <a:cs typeface="Arial"/>
                <a:sym typeface="Arial"/>
              </a:rPr>
            </a:b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Actor-Critic RL</a:t>
            </a:r>
            <a:r>
              <a:rPr lang="en-US" sz="1100">
                <a:latin typeface="Arial"/>
                <a:ea typeface="Arial"/>
                <a:cs typeface="Arial"/>
                <a:sym typeface="Arial"/>
              </a:rPr>
              <a:t> tries to optimize a reward function, but fails here since recommendation is a single-step problem.</a:t>
            </a:r>
            <a:endParaRPr/>
          </a:p>
        </p:txBody>
      </p:sp>
      <p:sp>
        <p:nvSpPr>
          <p:cNvPr id="350" name="Google Shape;350;g3d204e35d98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204e35d98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d204e35d98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d204e35d98_0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solidFill>
          <a:schemeClr val="lt2"/>
        </a:solidFill>
      </p:bgPr>
    </p:bg>
    <p:spTree>
      <p:nvGrpSpPr>
        <p:cNvPr id="11" name="Shape 11"/>
        <p:cNvGrpSpPr/>
        <p:nvPr/>
      </p:nvGrpSpPr>
      <p:grpSpPr>
        <a:xfrm>
          <a:off x="0" y="0"/>
          <a:ext cx="0" cy="0"/>
          <a:chOff x="0" y="0"/>
          <a:chExt cx="0" cy="0"/>
        </a:xfrm>
      </p:grpSpPr>
      <p:sp>
        <p:nvSpPr>
          <p:cNvPr id="12" name="Google Shape;12;p2"/>
          <p:cNvSpPr/>
          <p:nvPr/>
        </p:nvSpPr>
        <p:spPr>
          <a:xfrm>
            <a:off x="125733" y="163473"/>
            <a:ext cx="8864243" cy="6558002"/>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3" name="Google Shape;13;p2"/>
          <p:cNvSpPr/>
          <p:nvPr/>
        </p:nvSpPr>
        <p:spPr>
          <a:xfrm>
            <a:off x="125733" y="163474"/>
            <a:ext cx="8864243" cy="634814"/>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 name="Google Shape;14;p2"/>
          <p:cNvSpPr/>
          <p:nvPr/>
        </p:nvSpPr>
        <p:spPr>
          <a:xfrm>
            <a:off x="8381074" y="163474"/>
            <a:ext cx="608903" cy="634813"/>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CardOnTrans.eps" id="15" name="Google Shape;15;p2"/>
          <p:cNvPicPr preferRelativeResize="0"/>
          <p:nvPr/>
        </p:nvPicPr>
        <p:blipFill rotWithShape="1">
          <a:blip r:embed="rId2">
            <a:alphaModFix/>
          </a:blip>
          <a:srcRect b="0" l="15027" r="15158" t="0"/>
          <a:stretch/>
        </p:blipFill>
        <p:spPr>
          <a:xfrm>
            <a:off x="8451170" y="155634"/>
            <a:ext cx="470380" cy="673751"/>
          </a:xfrm>
          <a:prstGeom prst="rect">
            <a:avLst/>
          </a:prstGeom>
          <a:noFill/>
          <a:ln>
            <a:noFill/>
          </a:ln>
        </p:spPr>
      </p:pic>
      <p:pic>
        <p:nvPicPr>
          <p:cNvPr descr="Formal_Viterbi_GoldOntrans.eps" id="16" name="Google Shape;16;p2"/>
          <p:cNvPicPr preferRelativeResize="0"/>
          <p:nvPr/>
        </p:nvPicPr>
        <p:blipFill rotWithShape="1">
          <a:blip r:embed="rId3">
            <a:alphaModFix/>
          </a:blip>
          <a:srcRect b="0" l="0" r="0" t="0"/>
          <a:stretch/>
        </p:blipFill>
        <p:spPr>
          <a:xfrm>
            <a:off x="231557" y="233652"/>
            <a:ext cx="1767561" cy="477058"/>
          </a:xfrm>
          <a:prstGeom prst="rect">
            <a:avLst/>
          </a:prstGeom>
          <a:noFill/>
          <a:ln>
            <a:noFill/>
          </a:ln>
        </p:spPr>
      </p:pic>
      <p:sp>
        <p:nvSpPr>
          <p:cNvPr id="17" name="Google Shape;17;p2"/>
          <p:cNvSpPr txBox="1"/>
          <p:nvPr>
            <p:ph type="title"/>
          </p:nvPr>
        </p:nvSpPr>
        <p:spPr>
          <a:xfrm>
            <a:off x="457200" y="2327961"/>
            <a:ext cx="8229600" cy="112634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3400"/>
              <a:buFont typeface="Helvetica Neue"/>
              <a:buNone/>
              <a:defRPr b="1" i="0" sz="3400" u="none" cap="none" strike="noStrike">
                <a:solidFill>
                  <a:srgbClr val="FFFFFF"/>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8" name="Shape 18"/>
        <p:cNvGrpSpPr/>
        <p:nvPr/>
      </p:nvGrpSpPr>
      <p:grpSpPr>
        <a:xfrm>
          <a:off x="0" y="0"/>
          <a:ext cx="0" cy="0"/>
          <a:chOff x="0" y="0"/>
          <a:chExt cx="0" cy="0"/>
        </a:xfrm>
      </p:grpSpPr>
      <p:sp>
        <p:nvSpPr>
          <p:cNvPr id="19" name="Google Shape;19;p3"/>
          <p:cNvSpPr txBox="1"/>
          <p:nvPr>
            <p:ph type="title"/>
          </p:nvPr>
        </p:nvSpPr>
        <p:spPr>
          <a:xfrm>
            <a:off x="2053244" y="237614"/>
            <a:ext cx="6216285" cy="521370"/>
          </a:xfrm>
          <a:prstGeom prst="rect">
            <a:avLst/>
          </a:prstGeom>
          <a:noFill/>
          <a:ln>
            <a:noFill/>
          </a:ln>
        </p:spPr>
        <p:txBody>
          <a:bodyPr anchorCtr="0" anchor="t" bIns="45700" lIns="91425" spcFirstLastPara="1" rIns="91425" wrap="square" tIns="45700">
            <a:normAutofit/>
          </a:bodyPr>
          <a:lstStyle>
            <a:lvl1pPr lvl="0" marR="0" rtl="0" algn="ctr">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3"/>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 name="Google Shape;21;p3"/>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2" name="Google Shape;22;p3"/>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23" name="Google Shape;23;p3"/>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24" name="Google Shape;24;p3"/>
          <p:cNvPicPr preferRelativeResize="0"/>
          <p:nvPr/>
        </p:nvPicPr>
        <p:blipFill rotWithShape="1">
          <a:blip r:embed="rId3">
            <a:alphaModFix/>
          </a:blip>
          <a:srcRect b="0" l="0" r="0" t="0"/>
          <a:stretch/>
        </p:blipFill>
        <p:spPr>
          <a:xfrm>
            <a:off x="2" y="91985"/>
            <a:ext cx="2222500" cy="777875"/>
          </a:xfrm>
          <a:prstGeom prst="rect">
            <a:avLst/>
          </a:prstGeom>
          <a:noFill/>
          <a:ln>
            <a:noFill/>
          </a:ln>
        </p:spPr>
      </p:pic>
      <p:sp>
        <p:nvSpPr>
          <p:cNvPr id="25" name="Google Shape;25;p3"/>
          <p:cNvSpPr txBox="1"/>
          <p:nvPr>
            <p:ph idx="1" type="body"/>
          </p:nvPr>
        </p:nvSpPr>
        <p:spPr>
          <a:xfrm>
            <a:off x="443054" y="1038445"/>
            <a:ext cx="8229600" cy="4924844"/>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26" name="Shape 26"/>
        <p:cNvGrpSpPr/>
        <p:nvPr/>
      </p:nvGrpSpPr>
      <p:grpSpPr>
        <a:xfrm>
          <a:off x="0" y="0"/>
          <a:ext cx="0" cy="0"/>
          <a:chOff x="0" y="0"/>
          <a:chExt cx="0" cy="0"/>
        </a:xfrm>
      </p:grpSpPr>
      <p:sp>
        <p:nvSpPr>
          <p:cNvPr id="27" name="Google Shape;27;p4"/>
          <p:cNvSpPr txBox="1"/>
          <p:nvPr>
            <p:ph type="title"/>
          </p:nvPr>
        </p:nvSpPr>
        <p:spPr>
          <a:xfrm>
            <a:off x="2034988" y="201753"/>
            <a:ext cx="5912999" cy="429705"/>
          </a:xfrm>
          <a:prstGeom prst="rect">
            <a:avLst/>
          </a:prstGeom>
          <a:noFill/>
          <a:ln>
            <a:noFill/>
          </a:ln>
        </p:spPr>
        <p:txBody>
          <a:bodyPr anchorCtr="0" anchor="t" bIns="45700" lIns="91425" spcFirstLastPara="1" rIns="91425" wrap="square" tIns="45700">
            <a:normAutofit/>
          </a:bodyPr>
          <a:lstStyle>
            <a:lvl1pPr lvl="0" marR="0" rtl="0" algn="ctr">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4"/>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 name="Google Shape;29;p4"/>
          <p:cNvSpPr/>
          <p:nvPr/>
        </p:nvSpPr>
        <p:spPr>
          <a:xfrm>
            <a:off x="125733" y="163474"/>
            <a:ext cx="8864243" cy="87643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0" name="Google Shape;30;p4"/>
          <p:cNvSpPr/>
          <p:nvPr/>
        </p:nvSpPr>
        <p:spPr>
          <a:xfrm>
            <a:off x="8059271" y="163473"/>
            <a:ext cx="930707" cy="876431"/>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31" name="Google Shape;31;p4"/>
          <p:cNvPicPr preferRelativeResize="0"/>
          <p:nvPr/>
        </p:nvPicPr>
        <p:blipFill rotWithShape="1">
          <a:blip r:embed="rId2">
            <a:alphaModFix/>
          </a:blip>
          <a:srcRect b="0" l="0" r="0" t="0"/>
          <a:stretch/>
        </p:blipFill>
        <p:spPr>
          <a:xfrm>
            <a:off x="8288718" y="231585"/>
            <a:ext cx="589713" cy="762090"/>
          </a:xfrm>
          <a:prstGeom prst="rect">
            <a:avLst/>
          </a:prstGeom>
          <a:noFill/>
          <a:ln>
            <a:noFill/>
          </a:ln>
        </p:spPr>
      </p:pic>
      <p:pic>
        <p:nvPicPr>
          <p:cNvPr descr="Formal_Viterbi_CardOnTrans.eps" id="32" name="Google Shape;32;p4"/>
          <p:cNvPicPr preferRelativeResize="0"/>
          <p:nvPr/>
        </p:nvPicPr>
        <p:blipFill rotWithShape="1">
          <a:blip r:embed="rId3">
            <a:alphaModFix/>
          </a:blip>
          <a:srcRect b="0" l="0" r="0" t="0"/>
          <a:stretch/>
        </p:blipFill>
        <p:spPr>
          <a:xfrm>
            <a:off x="2" y="127845"/>
            <a:ext cx="2222500" cy="777875"/>
          </a:xfrm>
          <a:prstGeom prst="rect">
            <a:avLst/>
          </a:prstGeom>
          <a:noFill/>
          <a:ln>
            <a:noFill/>
          </a:ln>
        </p:spPr>
      </p:pic>
      <p:sp>
        <p:nvSpPr>
          <p:cNvPr id="33" name="Google Shape;33;p4"/>
          <p:cNvSpPr txBox="1"/>
          <p:nvPr>
            <p:ph idx="1" type="body"/>
          </p:nvPr>
        </p:nvSpPr>
        <p:spPr>
          <a:xfrm>
            <a:off x="353974" y="1239152"/>
            <a:ext cx="8229600" cy="4952098"/>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12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34" name="Google Shape;34;p4"/>
          <p:cNvSpPr txBox="1"/>
          <p:nvPr>
            <p:ph idx="2" type="body"/>
          </p:nvPr>
        </p:nvSpPr>
        <p:spPr>
          <a:xfrm>
            <a:off x="2034381" y="630890"/>
            <a:ext cx="5913346" cy="373156"/>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0"/>
              </a:spcBef>
              <a:spcAft>
                <a:spcPts val="0"/>
              </a:spcAft>
              <a:buClr>
                <a:srgbClr val="990000"/>
              </a:buClr>
              <a:buSzPts val="2000"/>
              <a:buFont typeface="Merriweather Sans"/>
              <a:buNone/>
              <a:defRPr b="1" i="0" sz="2000" u="none" cap="none" strike="noStrike">
                <a:solidFill>
                  <a:srgbClr val="990000"/>
                </a:solidFill>
                <a:latin typeface="Helvetica Neue"/>
                <a:ea typeface="Helvetica Neue"/>
                <a:cs typeface="Helvetica Neue"/>
                <a:sym typeface="Helvetica Neue"/>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2"/>
        </a:solidFill>
      </p:bgPr>
    </p:bg>
    <p:spTree>
      <p:nvGrpSpPr>
        <p:cNvPr id="35" name="Shape 35"/>
        <p:cNvGrpSpPr/>
        <p:nvPr/>
      </p:nvGrpSpPr>
      <p:grpSpPr>
        <a:xfrm>
          <a:off x="0" y="0"/>
          <a:ext cx="0" cy="0"/>
          <a:chOff x="0" y="0"/>
          <a:chExt cx="0" cy="0"/>
        </a:xfrm>
      </p:grpSpPr>
      <p:sp>
        <p:nvSpPr>
          <p:cNvPr id="36" name="Google Shape;36;p5"/>
          <p:cNvSpPr txBox="1"/>
          <p:nvPr>
            <p:ph type="ctrTitle"/>
          </p:nvPr>
        </p:nvSpPr>
        <p:spPr>
          <a:xfrm>
            <a:off x="333472" y="1660626"/>
            <a:ext cx="6400801" cy="404783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8800"/>
              <a:buFont typeface="Helvetica Neue Light"/>
              <a:buNone/>
              <a:defRPr b="1" i="0" sz="8800" u="none" cap="none" strike="noStrike">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5"/>
          <p:cNvSpPr txBox="1"/>
          <p:nvPr>
            <p:ph idx="10" type="dt"/>
          </p:nvPr>
        </p:nvSpPr>
        <p:spPr>
          <a:xfrm>
            <a:off x="7112000" y="6356351"/>
            <a:ext cx="1877976" cy="36512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lvl1pPr lvl="0" marR="0" rtl="0" algn="r">
              <a:spcBef>
                <a:spcPts val="0"/>
              </a:spcBef>
              <a:spcAft>
                <a:spcPts val="0"/>
              </a:spcAft>
              <a:buSzPts val="1400"/>
              <a:buNone/>
              <a:defRPr b="0" i="0" sz="18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8" name="Google Shape;38;p5"/>
          <p:cNvSpPr txBox="1"/>
          <p:nvPr>
            <p:ph idx="11" type="ftr"/>
          </p:nvPr>
        </p:nvSpPr>
        <p:spPr>
          <a:xfrm>
            <a:off x="125735" y="6356351"/>
            <a:ext cx="6986267" cy="365125"/>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800" cap="non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9" name="Google Shape;39;p5"/>
          <p:cNvSpPr/>
          <p:nvPr/>
        </p:nvSpPr>
        <p:spPr>
          <a:xfrm>
            <a:off x="125733" y="163473"/>
            <a:ext cx="8864243" cy="6558002"/>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0" name="Google Shape;40;p5"/>
          <p:cNvSpPr/>
          <p:nvPr/>
        </p:nvSpPr>
        <p:spPr>
          <a:xfrm>
            <a:off x="125733" y="163472"/>
            <a:ext cx="8864243" cy="879741"/>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 name="Google Shape;41;p5"/>
          <p:cNvSpPr/>
          <p:nvPr/>
        </p:nvSpPr>
        <p:spPr>
          <a:xfrm>
            <a:off x="8146145" y="163474"/>
            <a:ext cx="843833" cy="879740"/>
          </a:xfrm>
          <a:prstGeom prst="rect">
            <a:avLst/>
          </a:prstGeom>
          <a:solidFill>
            <a:srgbClr val="FFFFFF"/>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Formal_Viterbi_GoldOntrans.eps" id="42" name="Google Shape;42;p5"/>
          <p:cNvPicPr preferRelativeResize="0"/>
          <p:nvPr/>
        </p:nvPicPr>
        <p:blipFill rotWithShape="1">
          <a:blip r:embed="rId2">
            <a:alphaModFix/>
          </a:blip>
          <a:srcRect b="0" l="0" r="0" t="0"/>
          <a:stretch/>
        </p:blipFill>
        <p:spPr>
          <a:xfrm>
            <a:off x="333472" y="292986"/>
            <a:ext cx="2357235" cy="636208"/>
          </a:xfrm>
          <a:prstGeom prst="rect">
            <a:avLst/>
          </a:prstGeom>
          <a:noFill/>
          <a:ln>
            <a:noFill/>
          </a:ln>
        </p:spPr>
      </p:pic>
      <p:pic>
        <p:nvPicPr>
          <p:cNvPr descr="Small Use Shield_CardOnTrans.eps" id="43" name="Google Shape;43;p5"/>
          <p:cNvPicPr preferRelativeResize="0"/>
          <p:nvPr/>
        </p:nvPicPr>
        <p:blipFill rotWithShape="1">
          <a:blip r:embed="rId3">
            <a:alphaModFix/>
          </a:blip>
          <a:srcRect b="0" l="0" r="0" t="0"/>
          <a:stretch/>
        </p:blipFill>
        <p:spPr>
          <a:xfrm>
            <a:off x="8146145" y="190686"/>
            <a:ext cx="843833" cy="84383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4" name="Shape 44"/>
        <p:cNvGrpSpPr/>
        <p:nvPr/>
      </p:nvGrpSpPr>
      <p:grpSpPr>
        <a:xfrm>
          <a:off x="0" y="0"/>
          <a:ext cx="0" cy="0"/>
          <a:chOff x="0" y="0"/>
          <a:chExt cx="0" cy="0"/>
        </a:xfrm>
      </p:grpSpPr>
      <p:sp>
        <p:nvSpPr>
          <p:cNvPr id="45" name="Google Shape;45;p6"/>
          <p:cNvSpPr txBox="1"/>
          <p:nvPr>
            <p:ph type="title"/>
          </p:nvPr>
        </p:nvSpPr>
        <p:spPr>
          <a:xfrm>
            <a:off x="457200" y="904494"/>
            <a:ext cx="8229600" cy="52137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 name="Google Shape;46;p6"/>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7" name="Google Shape;47;p6"/>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8" name="Google Shape;48;p6"/>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49" name="Google Shape;49;p6"/>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50" name="Google Shape;50;p6"/>
          <p:cNvPicPr preferRelativeResize="0"/>
          <p:nvPr/>
        </p:nvPicPr>
        <p:blipFill rotWithShape="1">
          <a:blip r:embed="rId3">
            <a:alphaModFix/>
          </a:blip>
          <a:srcRect b="0" l="0" r="0" t="0"/>
          <a:stretch/>
        </p:blipFill>
        <p:spPr>
          <a:xfrm>
            <a:off x="2" y="91985"/>
            <a:ext cx="2222500" cy="7778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bg>
      <p:bgPr>
        <a:solidFill>
          <a:schemeClr val="lt2"/>
        </a:solidFill>
      </p:bgPr>
    </p:bg>
    <p:spTree>
      <p:nvGrpSpPr>
        <p:cNvPr id="51" name="Shape 51"/>
        <p:cNvGrpSpPr/>
        <p:nvPr/>
      </p:nvGrpSpPr>
      <p:grpSpPr>
        <a:xfrm>
          <a:off x="0" y="0"/>
          <a:ext cx="0" cy="0"/>
          <a:chOff x="0" y="0"/>
          <a:chExt cx="0" cy="0"/>
        </a:xfrm>
      </p:grpSpPr>
      <p:sp>
        <p:nvSpPr>
          <p:cNvPr id="52" name="Google Shape;52;p7"/>
          <p:cNvSpPr/>
          <p:nvPr/>
        </p:nvSpPr>
        <p:spPr>
          <a:xfrm>
            <a:off x="125733" y="163473"/>
            <a:ext cx="8864243" cy="6558002"/>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53" name="Google Shape;53;p7"/>
          <p:cNvSpPr/>
          <p:nvPr/>
        </p:nvSpPr>
        <p:spPr>
          <a:xfrm>
            <a:off x="125733" y="163474"/>
            <a:ext cx="8864243" cy="634814"/>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54" name="Google Shape;54;p7"/>
          <p:cNvSpPr/>
          <p:nvPr/>
        </p:nvSpPr>
        <p:spPr>
          <a:xfrm>
            <a:off x="8381074" y="163474"/>
            <a:ext cx="608903" cy="634813"/>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CardOnTrans.eps" id="55" name="Google Shape;55;p7"/>
          <p:cNvPicPr preferRelativeResize="0"/>
          <p:nvPr/>
        </p:nvPicPr>
        <p:blipFill rotWithShape="1">
          <a:blip r:embed="rId2">
            <a:alphaModFix/>
          </a:blip>
          <a:srcRect b="0" l="15027" r="15158" t="0"/>
          <a:stretch/>
        </p:blipFill>
        <p:spPr>
          <a:xfrm>
            <a:off x="8451170" y="155634"/>
            <a:ext cx="470380" cy="673751"/>
          </a:xfrm>
          <a:prstGeom prst="rect">
            <a:avLst/>
          </a:prstGeom>
          <a:noFill/>
          <a:ln>
            <a:noFill/>
          </a:ln>
        </p:spPr>
      </p:pic>
      <p:pic>
        <p:nvPicPr>
          <p:cNvPr descr="Formal_Viterbi_GoldOntrans.eps" id="56" name="Google Shape;56;p7"/>
          <p:cNvPicPr preferRelativeResize="0"/>
          <p:nvPr/>
        </p:nvPicPr>
        <p:blipFill rotWithShape="1">
          <a:blip r:embed="rId3">
            <a:alphaModFix/>
          </a:blip>
          <a:srcRect b="0" l="0" r="0" t="0"/>
          <a:stretch/>
        </p:blipFill>
        <p:spPr>
          <a:xfrm>
            <a:off x="231557" y="233652"/>
            <a:ext cx="1767561" cy="477058"/>
          </a:xfrm>
          <a:prstGeom prst="rect">
            <a:avLst/>
          </a:prstGeom>
          <a:noFill/>
          <a:ln>
            <a:noFill/>
          </a:ln>
        </p:spPr>
      </p:pic>
      <p:sp>
        <p:nvSpPr>
          <p:cNvPr id="57" name="Google Shape;57;p7"/>
          <p:cNvSpPr txBox="1"/>
          <p:nvPr>
            <p:ph type="title"/>
          </p:nvPr>
        </p:nvSpPr>
        <p:spPr>
          <a:xfrm>
            <a:off x="2169622" y="233652"/>
            <a:ext cx="6143025" cy="521370"/>
          </a:xfrm>
          <a:prstGeom prst="rect">
            <a:avLst/>
          </a:prstGeom>
          <a:noFill/>
          <a:ln>
            <a:noFill/>
          </a:ln>
        </p:spPr>
        <p:txBody>
          <a:bodyPr anchorCtr="0" anchor="t" bIns="45700" lIns="91425" spcFirstLastPara="1" rIns="91425" wrap="square" tIns="45700">
            <a:normAutofit/>
          </a:bodyPr>
          <a:lstStyle>
            <a:lvl1pPr lvl="0" marR="0" rtl="0" algn="ctr">
              <a:spcBef>
                <a:spcPts val="0"/>
              </a:spcBef>
              <a:spcAft>
                <a:spcPts val="0"/>
              </a:spcAft>
              <a:buClr>
                <a:srgbClr val="FFFFFF"/>
              </a:buClr>
              <a:buSzPts val="2400"/>
              <a:buFont typeface="Helvetica Neue"/>
              <a:buNone/>
              <a:defRPr b="1" i="0" sz="2400" u="none" cap="none" strike="noStrike">
                <a:solidFill>
                  <a:srgbClr val="FFFFFF"/>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8" name="Google Shape;58;p7"/>
          <p:cNvSpPr txBox="1"/>
          <p:nvPr>
            <p:ph idx="1" type="body"/>
          </p:nvPr>
        </p:nvSpPr>
        <p:spPr>
          <a:xfrm>
            <a:off x="443054" y="980052"/>
            <a:ext cx="8229600" cy="4924844"/>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bg>
      <p:bgPr>
        <a:solidFill>
          <a:schemeClr val="lt2"/>
        </a:solidFill>
      </p:bgPr>
    </p:bg>
    <p:spTree>
      <p:nvGrpSpPr>
        <p:cNvPr id="59" name="Shape 59"/>
        <p:cNvGrpSpPr/>
        <p:nvPr/>
      </p:nvGrpSpPr>
      <p:grpSpPr>
        <a:xfrm>
          <a:off x="0" y="0"/>
          <a:ext cx="0" cy="0"/>
          <a:chOff x="0" y="0"/>
          <a:chExt cx="0" cy="0"/>
        </a:xfrm>
      </p:grpSpPr>
      <p:sp>
        <p:nvSpPr>
          <p:cNvPr id="60" name="Google Shape;60;p8"/>
          <p:cNvSpPr/>
          <p:nvPr/>
        </p:nvSpPr>
        <p:spPr>
          <a:xfrm>
            <a:off x="125733" y="163473"/>
            <a:ext cx="8864243" cy="6558002"/>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61" name="Google Shape;61;p8"/>
          <p:cNvSpPr/>
          <p:nvPr/>
        </p:nvSpPr>
        <p:spPr>
          <a:xfrm>
            <a:off x="125733" y="163474"/>
            <a:ext cx="8864243" cy="634814"/>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62" name="Google Shape;62;p8"/>
          <p:cNvSpPr/>
          <p:nvPr/>
        </p:nvSpPr>
        <p:spPr>
          <a:xfrm>
            <a:off x="8381074" y="163474"/>
            <a:ext cx="608903" cy="634813"/>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63" name="Google Shape;63;p8"/>
          <p:cNvSpPr txBox="1"/>
          <p:nvPr>
            <p:ph idx="1" type="body"/>
          </p:nvPr>
        </p:nvSpPr>
        <p:spPr>
          <a:xfrm>
            <a:off x="1379783" y="1810613"/>
            <a:ext cx="6350136" cy="273656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800"/>
              </a:spcBef>
              <a:spcAft>
                <a:spcPts val="0"/>
              </a:spcAft>
              <a:buClr>
                <a:schemeClr val="lt1"/>
              </a:buClr>
              <a:buSzPts val="4000"/>
              <a:buFont typeface="Merriweather Sans"/>
              <a:buNone/>
              <a:defRPr b="1" i="0" sz="4000" u="none" cap="none" strike="noStrike">
                <a:solidFill>
                  <a:schemeClr val="lt1"/>
                </a:solidFill>
                <a:latin typeface="Helvetica Neue"/>
                <a:ea typeface="Helvetica Neue"/>
                <a:cs typeface="Helvetica Neue"/>
                <a:sym typeface="Helvetica Neue"/>
              </a:defRPr>
            </a:lvl1pPr>
            <a:lvl2pPr indent="-355600" lvl="1" marL="9144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pic>
        <p:nvPicPr>
          <p:cNvPr descr="Small Use Shield_CardOnTrans.eps" id="64" name="Google Shape;64;p8"/>
          <p:cNvPicPr preferRelativeResize="0"/>
          <p:nvPr/>
        </p:nvPicPr>
        <p:blipFill rotWithShape="1">
          <a:blip r:embed="rId2">
            <a:alphaModFix/>
          </a:blip>
          <a:srcRect b="0" l="15027" r="15158" t="0"/>
          <a:stretch/>
        </p:blipFill>
        <p:spPr>
          <a:xfrm>
            <a:off x="8451170" y="155634"/>
            <a:ext cx="470380" cy="673751"/>
          </a:xfrm>
          <a:prstGeom prst="rect">
            <a:avLst/>
          </a:prstGeom>
          <a:noFill/>
          <a:ln>
            <a:noFill/>
          </a:ln>
        </p:spPr>
      </p:pic>
      <p:pic>
        <p:nvPicPr>
          <p:cNvPr descr="Formal_Viterbi_GoldOntrans.eps" id="65" name="Google Shape;65;p8"/>
          <p:cNvPicPr preferRelativeResize="0"/>
          <p:nvPr/>
        </p:nvPicPr>
        <p:blipFill rotWithShape="1">
          <a:blip r:embed="rId3">
            <a:alphaModFix/>
          </a:blip>
          <a:srcRect b="0" l="0" r="0" t="0"/>
          <a:stretch/>
        </p:blipFill>
        <p:spPr>
          <a:xfrm>
            <a:off x="231557" y="233652"/>
            <a:ext cx="1767561" cy="477058"/>
          </a:xfrm>
          <a:prstGeom prst="rect">
            <a:avLst/>
          </a:prstGeom>
          <a:noFill/>
          <a:ln>
            <a:noFill/>
          </a:ln>
        </p:spPr>
      </p:pic>
      <p:sp>
        <p:nvSpPr>
          <p:cNvPr id="66" name="Google Shape;66;p8"/>
          <p:cNvSpPr txBox="1"/>
          <p:nvPr>
            <p:ph idx="2" type="body"/>
          </p:nvPr>
        </p:nvSpPr>
        <p:spPr>
          <a:xfrm>
            <a:off x="1379539" y="4645026"/>
            <a:ext cx="2436661" cy="4714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Bullets">
  <p:cSld name="2 Images + Bullets">
    <p:spTree>
      <p:nvGrpSpPr>
        <p:cNvPr id="67" name="Shape 67"/>
        <p:cNvGrpSpPr/>
        <p:nvPr/>
      </p:nvGrpSpPr>
      <p:grpSpPr>
        <a:xfrm>
          <a:off x="0" y="0"/>
          <a:ext cx="0" cy="0"/>
          <a:chOff x="0" y="0"/>
          <a:chExt cx="0" cy="0"/>
        </a:xfrm>
      </p:grpSpPr>
      <p:sp>
        <p:nvSpPr>
          <p:cNvPr id="68" name="Google Shape;68;p9"/>
          <p:cNvSpPr txBox="1"/>
          <p:nvPr>
            <p:ph type="title"/>
          </p:nvPr>
        </p:nvSpPr>
        <p:spPr>
          <a:xfrm>
            <a:off x="457200" y="904494"/>
            <a:ext cx="8229600" cy="52137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9"/>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70" name="Google Shape;70;p9"/>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71" name="Google Shape;71;p9"/>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72" name="Google Shape;72;p9"/>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73" name="Google Shape;73;p9"/>
          <p:cNvPicPr preferRelativeResize="0"/>
          <p:nvPr/>
        </p:nvPicPr>
        <p:blipFill rotWithShape="1">
          <a:blip r:embed="rId3">
            <a:alphaModFix/>
          </a:blip>
          <a:srcRect b="0" l="0" r="0" t="0"/>
          <a:stretch/>
        </p:blipFill>
        <p:spPr>
          <a:xfrm>
            <a:off x="2" y="91985"/>
            <a:ext cx="2222500" cy="777875"/>
          </a:xfrm>
          <a:prstGeom prst="rect">
            <a:avLst/>
          </a:prstGeom>
          <a:noFill/>
          <a:ln>
            <a:noFill/>
          </a:ln>
        </p:spPr>
      </p:pic>
      <p:sp>
        <p:nvSpPr>
          <p:cNvPr id="74" name="Google Shape;74;p9"/>
          <p:cNvSpPr txBox="1"/>
          <p:nvPr>
            <p:ph idx="1" type="body"/>
          </p:nvPr>
        </p:nvSpPr>
        <p:spPr>
          <a:xfrm>
            <a:off x="4045385" y="1538896"/>
            <a:ext cx="4641417" cy="2301875"/>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75" name="Google Shape;75;p9"/>
          <p:cNvSpPr txBox="1"/>
          <p:nvPr>
            <p:ph idx="2" type="body"/>
          </p:nvPr>
        </p:nvSpPr>
        <p:spPr>
          <a:xfrm>
            <a:off x="4045385" y="3939120"/>
            <a:ext cx="4641417" cy="2436226"/>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76" name="Google Shape;76;p9"/>
          <p:cNvSpPr/>
          <p:nvPr>
            <p:ph idx="3" type="pic"/>
          </p:nvPr>
        </p:nvSpPr>
        <p:spPr>
          <a:xfrm>
            <a:off x="457200" y="1538896"/>
            <a:ext cx="3479800" cy="2301875"/>
          </a:xfrm>
          <a:prstGeom prst="rect">
            <a:avLst/>
          </a:prstGeom>
          <a:noFill/>
          <a:ln>
            <a:noFill/>
          </a:ln>
        </p:spPr>
      </p:sp>
      <p:sp>
        <p:nvSpPr>
          <p:cNvPr id="77" name="Google Shape;77;p9"/>
          <p:cNvSpPr/>
          <p:nvPr>
            <p:ph idx="4" type="pic"/>
          </p:nvPr>
        </p:nvSpPr>
        <p:spPr>
          <a:xfrm>
            <a:off x="457200" y="3939119"/>
            <a:ext cx="3479800" cy="2436813"/>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Text">
  <p:cSld name="Chart + Text">
    <p:spTree>
      <p:nvGrpSpPr>
        <p:cNvPr id="78" name="Shape 78"/>
        <p:cNvGrpSpPr/>
        <p:nvPr/>
      </p:nvGrpSpPr>
      <p:grpSpPr>
        <a:xfrm>
          <a:off x="0" y="0"/>
          <a:ext cx="0" cy="0"/>
          <a:chOff x="0" y="0"/>
          <a:chExt cx="0" cy="0"/>
        </a:xfrm>
      </p:grpSpPr>
      <p:sp>
        <p:nvSpPr>
          <p:cNvPr id="79" name="Google Shape;79;p10"/>
          <p:cNvSpPr txBox="1"/>
          <p:nvPr>
            <p:ph type="title"/>
          </p:nvPr>
        </p:nvSpPr>
        <p:spPr>
          <a:xfrm>
            <a:off x="293689" y="831926"/>
            <a:ext cx="8584743" cy="52137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0"/>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81" name="Google Shape;81;p10"/>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82" name="Google Shape;82;p10"/>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83" name="Google Shape;83;p10"/>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84" name="Google Shape;84;p10"/>
          <p:cNvPicPr preferRelativeResize="0"/>
          <p:nvPr/>
        </p:nvPicPr>
        <p:blipFill rotWithShape="1">
          <a:blip r:embed="rId3">
            <a:alphaModFix/>
          </a:blip>
          <a:srcRect b="0" l="0" r="0" t="0"/>
          <a:stretch/>
        </p:blipFill>
        <p:spPr>
          <a:xfrm>
            <a:off x="2" y="91985"/>
            <a:ext cx="2222500" cy="777875"/>
          </a:xfrm>
          <a:prstGeom prst="rect">
            <a:avLst/>
          </a:prstGeom>
          <a:noFill/>
          <a:ln>
            <a:noFill/>
          </a:ln>
        </p:spPr>
      </p:pic>
      <p:sp>
        <p:nvSpPr>
          <p:cNvPr id="85" name="Google Shape;85;p10"/>
          <p:cNvSpPr txBox="1"/>
          <p:nvPr>
            <p:ph idx="1" type="body"/>
          </p:nvPr>
        </p:nvSpPr>
        <p:spPr>
          <a:xfrm>
            <a:off x="294106" y="5577039"/>
            <a:ext cx="8584325" cy="915904"/>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86" name="Google Shape;86;p10"/>
          <p:cNvSpPr txBox="1"/>
          <p:nvPr>
            <p:ph idx="2" type="body"/>
          </p:nvPr>
        </p:nvSpPr>
        <p:spPr>
          <a:xfrm>
            <a:off x="293688" y="1519944"/>
            <a:ext cx="8585200" cy="390813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image">
  <p:cSld name="Primary image">
    <p:bg>
      <p:bgPr>
        <a:solidFill>
          <a:schemeClr val="lt1"/>
        </a:solidFill>
      </p:bgPr>
    </p:bg>
    <p:spTree>
      <p:nvGrpSpPr>
        <p:cNvPr id="87" name="Shape 87"/>
        <p:cNvGrpSpPr/>
        <p:nvPr/>
      </p:nvGrpSpPr>
      <p:grpSpPr>
        <a:xfrm>
          <a:off x="0" y="0"/>
          <a:ext cx="0" cy="0"/>
          <a:chOff x="0" y="0"/>
          <a:chExt cx="0" cy="0"/>
        </a:xfrm>
      </p:grpSpPr>
      <p:sp>
        <p:nvSpPr>
          <p:cNvPr id="88" name="Google Shape;88;p11"/>
          <p:cNvSpPr/>
          <p:nvPr>
            <p:ph idx="2" type="pic"/>
          </p:nvPr>
        </p:nvSpPr>
        <p:spPr>
          <a:xfrm>
            <a:off x="1" y="-1"/>
            <a:ext cx="9144000" cy="6858001"/>
          </a:xfrm>
          <a:prstGeom prst="rect">
            <a:avLst/>
          </a:prstGeom>
          <a:noFill/>
          <a:ln>
            <a:noFill/>
          </a:ln>
        </p:spPr>
      </p:sp>
      <p:sp>
        <p:nvSpPr>
          <p:cNvPr id="89" name="Google Shape;89;p11"/>
          <p:cNvSpPr/>
          <p:nvPr/>
        </p:nvSpPr>
        <p:spPr>
          <a:xfrm>
            <a:off x="552882" y="4973054"/>
            <a:ext cx="2709015" cy="188494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90" name="Google Shape;90;p11"/>
          <p:cNvSpPr txBox="1"/>
          <p:nvPr>
            <p:ph idx="1" type="body"/>
          </p:nvPr>
        </p:nvSpPr>
        <p:spPr>
          <a:xfrm>
            <a:off x="552881" y="4973639"/>
            <a:ext cx="2709433" cy="462538"/>
          </a:xfrm>
          <a:prstGeom prst="rect">
            <a:avLst/>
          </a:prstGeom>
          <a:solidFill>
            <a:schemeClr val="lt2"/>
          </a:solid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1"/>
              </a:buClr>
              <a:buSzPts val="2000"/>
              <a:buFont typeface="Merriweather Sans"/>
              <a:buNone/>
              <a:defRPr b="0" i="0" sz="2000" u="none" cap="none" strike="noStrike">
                <a:solidFill>
                  <a:schemeClr val="lt1"/>
                </a:solidFill>
                <a:latin typeface="Helvetica Neue"/>
                <a:ea typeface="Helvetica Neue"/>
                <a:cs typeface="Helvetica Neue"/>
                <a:sym typeface="Helvetica Neue"/>
              </a:defRPr>
            </a:lvl1pPr>
            <a:lvl2pPr indent="-355600" lvl="1" marL="9144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2pPr>
            <a:lvl3pPr indent="-355600" lvl="2" marL="13716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91" name="Google Shape;91;p11"/>
          <p:cNvSpPr txBox="1"/>
          <p:nvPr>
            <p:ph idx="3" type="body"/>
          </p:nvPr>
        </p:nvSpPr>
        <p:spPr>
          <a:xfrm>
            <a:off x="552882" y="5436177"/>
            <a:ext cx="2709015" cy="1421824"/>
          </a:xfrm>
          <a:prstGeom prst="rect">
            <a:avLst/>
          </a:prstGeom>
          <a:solidFill>
            <a:schemeClr val="lt2"/>
          </a:solid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1"/>
              </a:buClr>
              <a:buSzPts val="2000"/>
              <a:buFont typeface="Merriweather Sans"/>
              <a:buNone/>
              <a:defRPr b="0" i="0" sz="2000" u="none" cap="none" strike="noStrike">
                <a:solidFill>
                  <a:schemeClr val="lt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2pPr>
            <a:lvl3pPr indent="-355600" lvl="2" marL="13716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Faculty/ Thumbnails">
  <p:cSld name="New Faculty/ Thumbnails">
    <p:spTree>
      <p:nvGrpSpPr>
        <p:cNvPr id="92" name="Shape 92"/>
        <p:cNvGrpSpPr/>
        <p:nvPr/>
      </p:nvGrpSpPr>
      <p:grpSpPr>
        <a:xfrm>
          <a:off x="0" y="0"/>
          <a:ext cx="0" cy="0"/>
          <a:chOff x="0" y="0"/>
          <a:chExt cx="0" cy="0"/>
        </a:xfrm>
      </p:grpSpPr>
      <p:sp>
        <p:nvSpPr>
          <p:cNvPr id="93" name="Google Shape;93;p12"/>
          <p:cNvSpPr txBox="1"/>
          <p:nvPr>
            <p:ph type="title"/>
          </p:nvPr>
        </p:nvSpPr>
        <p:spPr>
          <a:xfrm>
            <a:off x="263019" y="851932"/>
            <a:ext cx="8229600" cy="52137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12"/>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95" name="Google Shape;95;p12"/>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96" name="Google Shape;96;p12"/>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97" name="Google Shape;97;p12"/>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98" name="Google Shape;98;p12"/>
          <p:cNvPicPr preferRelativeResize="0"/>
          <p:nvPr/>
        </p:nvPicPr>
        <p:blipFill rotWithShape="1">
          <a:blip r:embed="rId3">
            <a:alphaModFix/>
          </a:blip>
          <a:srcRect b="0" l="0" r="0" t="0"/>
          <a:stretch/>
        </p:blipFill>
        <p:spPr>
          <a:xfrm>
            <a:off x="2" y="91985"/>
            <a:ext cx="2222500" cy="777875"/>
          </a:xfrm>
          <a:prstGeom prst="rect">
            <a:avLst/>
          </a:prstGeom>
          <a:noFill/>
          <a:ln>
            <a:noFill/>
          </a:ln>
        </p:spPr>
      </p:pic>
      <p:sp>
        <p:nvSpPr>
          <p:cNvPr id="99" name="Google Shape;99;p12"/>
          <p:cNvSpPr txBox="1"/>
          <p:nvPr>
            <p:ph idx="1" type="body"/>
          </p:nvPr>
        </p:nvSpPr>
        <p:spPr>
          <a:xfrm>
            <a:off x="246647" y="3072524"/>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00" name="Google Shape;100;p12"/>
          <p:cNvSpPr/>
          <p:nvPr>
            <p:ph idx="2" type="pic"/>
          </p:nvPr>
        </p:nvSpPr>
        <p:spPr>
          <a:xfrm>
            <a:off x="256673" y="1625136"/>
            <a:ext cx="1280696" cy="1447388"/>
          </a:xfrm>
          <a:prstGeom prst="rect">
            <a:avLst/>
          </a:prstGeom>
          <a:noFill/>
          <a:ln>
            <a:noFill/>
          </a:ln>
        </p:spPr>
      </p:sp>
      <p:sp>
        <p:nvSpPr>
          <p:cNvPr id="101" name="Google Shape;101;p12"/>
          <p:cNvSpPr txBox="1"/>
          <p:nvPr>
            <p:ph idx="3" type="body"/>
          </p:nvPr>
        </p:nvSpPr>
        <p:spPr>
          <a:xfrm>
            <a:off x="1705945" y="3074238"/>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02" name="Google Shape;102;p12"/>
          <p:cNvSpPr/>
          <p:nvPr>
            <p:ph idx="4" type="pic"/>
          </p:nvPr>
        </p:nvSpPr>
        <p:spPr>
          <a:xfrm>
            <a:off x="1715971" y="1626850"/>
            <a:ext cx="1280696" cy="1447388"/>
          </a:xfrm>
          <a:prstGeom prst="rect">
            <a:avLst/>
          </a:prstGeom>
          <a:noFill/>
          <a:ln>
            <a:noFill/>
          </a:ln>
        </p:spPr>
      </p:sp>
      <p:sp>
        <p:nvSpPr>
          <p:cNvPr id="103" name="Google Shape;103;p12"/>
          <p:cNvSpPr txBox="1"/>
          <p:nvPr>
            <p:ph idx="5" type="body"/>
          </p:nvPr>
        </p:nvSpPr>
        <p:spPr>
          <a:xfrm>
            <a:off x="3165243" y="3076912"/>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04" name="Google Shape;104;p12"/>
          <p:cNvSpPr/>
          <p:nvPr>
            <p:ph idx="6" type="pic"/>
          </p:nvPr>
        </p:nvSpPr>
        <p:spPr>
          <a:xfrm>
            <a:off x="3175269" y="1629523"/>
            <a:ext cx="1280696" cy="1447388"/>
          </a:xfrm>
          <a:prstGeom prst="rect">
            <a:avLst/>
          </a:prstGeom>
          <a:noFill/>
          <a:ln>
            <a:noFill/>
          </a:ln>
        </p:spPr>
      </p:sp>
      <p:sp>
        <p:nvSpPr>
          <p:cNvPr id="105" name="Google Shape;105;p12"/>
          <p:cNvSpPr txBox="1"/>
          <p:nvPr>
            <p:ph idx="7" type="body"/>
          </p:nvPr>
        </p:nvSpPr>
        <p:spPr>
          <a:xfrm>
            <a:off x="4624541" y="3070810"/>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06" name="Google Shape;106;p12"/>
          <p:cNvSpPr/>
          <p:nvPr>
            <p:ph idx="8" type="pic"/>
          </p:nvPr>
        </p:nvSpPr>
        <p:spPr>
          <a:xfrm>
            <a:off x="4634567" y="1623421"/>
            <a:ext cx="1280696" cy="1447388"/>
          </a:xfrm>
          <a:prstGeom prst="rect">
            <a:avLst/>
          </a:prstGeom>
          <a:noFill/>
          <a:ln>
            <a:noFill/>
          </a:ln>
        </p:spPr>
      </p:sp>
      <p:sp>
        <p:nvSpPr>
          <p:cNvPr id="107" name="Google Shape;107;p12"/>
          <p:cNvSpPr txBox="1"/>
          <p:nvPr>
            <p:ph idx="9" type="body"/>
          </p:nvPr>
        </p:nvSpPr>
        <p:spPr>
          <a:xfrm>
            <a:off x="6083839" y="3072524"/>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08" name="Google Shape;108;p12"/>
          <p:cNvSpPr/>
          <p:nvPr>
            <p:ph idx="13" type="pic"/>
          </p:nvPr>
        </p:nvSpPr>
        <p:spPr>
          <a:xfrm>
            <a:off x="6093865" y="1625136"/>
            <a:ext cx="1280696" cy="1447388"/>
          </a:xfrm>
          <a:prstGeom prst="rect">
            <a:avLst/>
          </a:prstGeom>
          <a:noFill/>
          <a:ln>
            <a:noFill/>
          </a:ln>
        </p:spPr>
      </p:sp>
      <p:sp>
        <p:nvSpPr>
          <p:cNvPr id="109" name="Google Shape;109;p12"/>
          <p:cNvSpPr txBox="1"/>
          <p:nvPr>
            <p:ph idx="14" type="body"/>
          </p:nvPr>
        </p:nvSpPr>
        <p:spPr>
          <a:xfrm>
            <a:off x="7543136" y="3075198"/>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10" name="Google Shape;110;p12"/>
          <p:cNvSpPr/>
          <p:nvPr>
            <p:ph idx="15" type="pic"/>
          </p:nvPr>
        </p:nvSpPr>
        <p:spPr>
          <a:xfrm>
            <a:off x="7553163" y="1627810"/>
            <a:ext cx="1280696" cy="1447388"/>
          </a:xfrm>
          <a:prstGeom prst="rect">
            <a:avLst/>
          </a:prstGeom>
          <a:noFill/>
          <a:ln>
            <a:noFill/>
          </a:ln>
        </p:spPr>
      </p:sp>
      <p:sp>
        <p:nvSpPr>
          <p:cNvPr id="111" name="Google Shape;111;p12"/>
          <p:cNvSpPr txBox="1"/>
          <p:nvPr>
            <p:ph idx="16" type="body"/>
          </p:nvPr>
        </p:nvSpPr>
        <p:spPr>
          <a:xfrm>
            <a:off x="227931" y="5541306"/>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12" name="Google Shape;112;p12"/>
          <p:cNvSpPr/>
          <p:nvPr>
            <p:ph idx="17" type="pic"/>
          </p:nvPr>
        </p:nvSpPr>
        <p:spPr>
          <a:xfrm>
            <a:off x="237957" y="4093918"/>
            <a:ext cx="1280696" cy="1447388"/>
          </a:xfrm>
          <a:prstGeom prst="rect">
            <a:avLst/>
          </a:prstGeom>
          <a:noFill/>
          <a:ln>
            <a:noFill/>
          </a:ln>
        </p:spPr>
      </p:sp>
      <p:sp>
        <p:nvSpPr>
          <p:cNvPr id="113" name="Google Shape;113;p12"/>
          <p:cNvSpPr txBox="1"/>
          <p:nvPr>
            <p:ph idx="18" type="body"/>
          </p:nvPr>
        </p:nvSpPr>
        <p:spPr>
          <a:xfrm>
            <a:off x="1687229" y="5543020"/>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14" name="Google Shape;114;p12"/>
          <p:cNvSpPr/>
          <p:nvPr>
            <p:ph idx="19" type="pic"/>
          </p:nvPr>
        </p:nvSpPr>
        <p:spPr>
          <a:xfrm>
            <a:off x="1697255" y="4095631"/>
            <a:ext cx="1280696" cy="1447388"/>
          </a:xfrm>
          <a:prstGeom prst="rect">
            <a:avLst/>
          </a:prstGeom>
          <a:noFill/>
          <a:ln>
            <a:noFill/>
          </a:ln>
        </p:spPr>
      </p:sp>
      <p:sp>
        <p:nvSpPr>
          <p:cNvPr id="115" name="Google Shape;115;p12"/>
          <p:cNvSpPr txBox="1"/>
          <p:nvPr>
            <p:ph idx="20" type="body"/>
          </p:nvPr>
        </p:nvSpPr>
        <p:spPr>
          <a:xfrm>
            <a:off x="3146527" y="5545694"/>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16" name="Google Shape;116;p12"/>
          <p:cNvSpPr/>
          <p:nvPr>
            <p:ph idx="21" type="pic"/>
          </p:nvPr>
        </p:nvSpPr>
        <p:spPr>
          <a:xfrm>
            <a:off x="3156553" y="4098306"/>
            <a:ext cx="1280696" cy="1447388"/>
          </a:xfrm>
          <a:prstGeom prst="rect">
            <a:avLst/>
          </a:prstGeom>
          <a:noFill/>
          <a:ln>
            <a:noFill/>
          </a:ln>
        </p:spPr>
      </p:sp>
      <p:sp>
        <p:nvSpPr>
          <p:cNvPr id="117" name="Google Shape;117;p12"/>
          <p:cNvSpPr txBox="1"/>
          <p:nvPr>
            <p:ph idx="22" type="body"/>
          </p:nvPr>
        </p:nvSpPr>
        <p:spPr>
          <a:xfrm>
            <a:off x="4605825" y="5539592"/>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18" name="Google Shape;118;p12"/>
          <p:cNvSpPr/>
          <p:nvPr>
            <p:ph idx="23" type="pic"/>
          </p:nvPr>
        </p:nvSpPr>
        <p:spPr>
          <a:xfrm>
            <a:off x="4615851" y="4092204"/>
            <a:ext cx="1280696" cy="1447388"/>
          </a:xfrm>
          <a:prstGeom prst="rect">
            <a:avLst/>
          </a:prstGeom>
          <a:noFill/>
          <a:ln>
            <a:noFill/>
          </a:ln>
        </p:spPr>
      </p:sp>
      <p:sp>
        <p:nvSpPr>
          <p:cNvPr id="119" name="Google Shape;119;p12"/>
          <p:cNvSpPr txBox="1"/>
          <p:nvPr>
            <p:ph idx="24" type="body"/>
          </p:nvPr>
        </p:nvSpPr>
        <p:spPr>
          <a:xfrm>
            <a:off x="6065123" y="5541306"/>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20" name="Google Shape;120;p12"/>
          <p:cNvSpPr/>
          <p:nvPr>
            <p:ph idx="25" type="pic"/>
          </p:nvPr>
        </p:nvSpPr>
        <p:spPr>
          <a:xfrm>
            <a:off x="6075149" y="4093918"/>
            <a:ext cx="1280696" cy="1447388"/>
          </a:xfrm>
          <a:prstGeom prst="rect">
            <a:avLst/>
          </a:prstGeom>
          <a:noFill/>
          <a:ln>
            <a:noFill/>
          </a:ln>
        </p:spPr>
      </p:sp>
      <p:sp>
        <p:nvSpPr>
          <p:cNvPr id="121" name="Google Shape;121;p12"/>
          <p:cNvSpPr txBox="1"/>
          <p:nvPr>
            <p:ph idx="26" type="body"/>
          </p:nvPr>
        </p:nvSpPr>
        <p:spPr>
          <a:xfrm>
            <a:off x="7524420" y="5543980"/>
            <a:ext cx="1290723" cy="494089"/>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rtl="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22" name="Google Shape;122;p12"/>
          <p:cNvSpPr/>
          <p:nvPr>
            <p:ph idx="27" type="pic"/>
          </p:nvPr>
        </p:nvSpPr>
        <p:spPr>
          <a:xfrm>
            <a:off x="7534447" y="4096591"/>
            <a:ext cx="1280696" cy="1447388"/>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23" name="Shape 123"/>
        <p:cNvGrpSpPr/>
        <p:nvPr/>
      </p:nvGrpSpPr>
      <p:grpSpPr>
        <a:xfrm>
          <a:off x="0" y="0"/>
          <a:ext cx="0" cy="0"/>
          <a:chOff x="0" y="0"/>
          <a:chExt cx="0" cy="0"/>
        </a:xfrm>
      </p:grpSpPr>
      <p:sp>
        <p:nvSpPr>
          <p:cNvPr id="124" name="Google Shape;124;p13"/>
          <p:cNvSpPr txBox="1"/>
          <p:nvPr>
            <p:ph type="title"/>
          </p:nvPr>
        </p:nvSpPr>
        <p:spPr>
          <a:xfrm>
            <a:off x="457200" y="904494"/>
            <a:ext cx="8229600" cy="52137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5" name="Google Shape;125;p13"/>
          <p:cNvSpPr/>
          <p:nvPr/>
        </p:nvSpPr>
        <p:spPr>
          <a:xfrm>
            <a:off x="125733" y="163473"/>
            <a:ext cx="8864243" cy="655800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6" name="Google Shape;126;p13"/>
          <p:cNvSpPr/>
          <p:nvPr/>
        </p:nvSpPr>
        <p:spPr>
          <a:xfrm>
            <a:off x="125733" y="163474"/>
            <a:ext cx="8864243" cy="634814"/>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7" name="Google Shape;127;p13"/>
          <p:cNvSpPr/>
          <p:nvPr/>
        </p:nvSpPr>
        <p:spPr>
          <a:xfrm>
            <a:off x="8381074" y="163474"/>
            <a:ext cx="608903" cy="634813"/>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128" name="Google Shape;128;p13"/>
          <p:cNvPicPr preferRelativeResize="0"/>
          <p:nvPr/>
        </p:nvPicPr>
        <p:blipFill rotWithShape="1">
          <a:blip r:embed="rId2">
            <a:alphaModFix/>
          </a:blip>
          <a:srcRect b="0" l="0" r="0" t="0"/>
          <a:stretch/>
        </p:blipFill>
        <p:spPr>
          <a:xfrm>
            <a:off x="8492619" y="231585"/>
            <a:ext cx="385812" cy="498588"/>
          </a:xfrm>
          <a:prstGeom prst="rect">
            <a:avLst/>
          </a:prstGeom>
          <a:noFill/>
          <a:ln>
            <a:noFill/>
          </a:ln>
        </p:spPr>
      </p:pic>
      <p:pic>
        <p:nvPicPr>
          <p:cNvPr descr="Formal_Viterbi_CardOnTrans.eps" id="129" name="Google Shape;129;p13"/>
          <p:cNvPicPr preferRelativeResize="0"/>
          <p:nvPr/>
        </p:nvPicPr>
        <p:blipFill rotWithShape="1">
          <a:blip r:embed="rId3">
            <a:alphaModFix/>
          </a:blip>
          <a:srcRect b="0" l="0" r="0" t="0"/>
          <a:stretch/>
        </p:blipFill>
        <p:spPr>
          <a:xfrm>
            <a:off x="2" y="91985"/>
            <a:ext cx="2222500" cy="777875"/>
          </a:xfrm>
          <a:prstGeom prst="rect">
            <a:avLst/>
          </a:prstGeom>
          <a:noFill/>
          <a:ln>
            <a:noFill/>
          </a:ln>
        </p:spPr>
      </p:pic>
      <p:sp>
        <p:nvSpPr>
          <p:cNvPr id="130" name="Google Shape;130;p13"/>
          <p:cNvSpPr/>
          <p:nvPr>
            <p:ph idx="2" type="chart"/>
          </p:nvPr>
        </p:nvSpPr>
        <p:spPr>
          <a:xfrm>
            <a:off x="457200" y="1581150"/>
            <a:ext cx="8229600" cy="4873438"/>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lvl="1"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lvl="2"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lvl="3"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lvl="4"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31" name="Shape 1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2" name="Shape 132"/>
        <p:cNvGrpSpPr/>
        <p:nvPr/>
      </p:nvGrpSpPr>
      <p:grpSpPr>
        <a:xfrm>
          <a:off x="0" y="0"/>
          <a:ext cx="0" cy="0"/>
          <a:chOff x="0" y="0"/>
          <a:chExt cx="0" cy="0"/>
        </a:xfrm>
      </p:grpSpPr>
      <p:sp>
        <p:nvSpPr>
          <p:cNvPr id="133" name="Google Shape;133;p15"/>
          <p:cNvSpPr txBox="1"/>
          <p:nvPr>
            <p:ph type="title"/>
          </p:nvPr>
        </p:nvSpPr>
        <p:spPr>
          <a:xfrm>
            <a:off x="2286000" y="304800"/>
            <a:ext cx="6248400" cy="990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800"/>
              <a:buFont typeface="Helvetica Neue"/>
              <a:buNone/>
              <a:defRPr b="1" i="0" sz="2800" u="none" cap="none" strike="noStrik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4" name="Google Shape;134;p15"/>
          <p:cNvSpPr txBox="1"/>
          <p:nvPr>
            <p:ph idx="1" type="body"/>
          </p:nvPr>
        </p:nvSpPr>
        <p:spPr>
          <a:xfrm>
            <a:off x="2286000" y="1981200"/>
            <a:ext cx="3048000" cy="41148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Merriweather Sans"/>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spcBef>
                <a:spcPts val="480"/>
              </a:spcBef>
              <a:spcAft>
                <a:spcPts val="0"/>
              </a:spcAft>
              <a:buClr>
                <a:schemeClr val="dk1"/>
              </a:buClr>
              <a:buSzPts val="2400"/>
              <a:buFont typeface="Merriweather Sans"/>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9pPr>
          </a:lstStyle>
          <a:p/>
        </p:txBody>
      </p:sp>
      <p:sp>
        <p:nvSpPr>
          <p:cNvPr id="135" name="Google Shape;135;p15"/>
          <p:cNvSpPr txBox="1"/>
          <p:nvPr>
            <p:ph idx="2" type="body"/>
          </p:nvPr>
        </p:nvSpPr>
        <p:spPr>
          <a:xfrm>
            <a:off x="5486400" y="1981200"/>
            <a:ext cx="3048000" cy="41148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Merriweather Sans"/>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spcBef>
                <a:spcPts val="480"/>
              </a:spcBef>
              <a:spcAft>
                <a:spcPts val="0"/>
              </a:spcAft>
              <a:buClr>
                <a:schemeClr val="dk1"/>
              </a:buClr>
              <a:buSzPts val="2400"/>
              <a:buFont typeface="Merriweather Sans"/>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solidFill>
          <a:schemeClr val="lt2"/>
        </a:solidFill>
      </p:bgPr>
    </p:bg>
    <p:spTree>
      <p:nvGrpSpPr>
        <p:cNvPr id="138" name="Shape 138"/>
        <p:cNvGrpSpPr/>
        <p:nvPr/>
      </p:nvGrpSpPr>
      <p:grpSpPr>
        <a:xfrm>
          <a:off x="0" y="0"/>
          <a:ext cx="0" cy="0"/>
          <a:chOff x="0" y="0"/>
          <a:chExt cx="0" cy="0"/>
        </a:xfrm>
      </p:grpSpPr>
      <p:sp>
        <p:nvSpPr>
          <p:cNvPr id="139" name="Google Shape;139;p17"/>
          <p:cNvSpPr/>
          <p:nvPr/>
        </p:nvSpPr>
        <p:spPr>
          <a:xfrm>
            <a:off x="125733" y="163473"/>
            <a:ext cx="8864100" cy="65580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0" name="Google Shape;140;p17"/>
          <p:cNvSpPr/>
          <p:nvPr/>
        </p:nvSpPr>
        <p:spPr>
          <a:xfrm>
            <a:off x="125733" y="163474"/>
            <a:ext cx="8864100" cy="6348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1" name="Google Shape;141;p17"/>
          <p:cNvSpPr/>
          <p:nvPr/>
        </p:nvSpPr>
        <p:spPr>
          <a:xfrm>
            <a:off x="8381074" y="163474"/>
            <a:ext cx="609000" cy="634800"/>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CardOnTrans.eps" id="142" name="Google Shape;142;p17"/>
          <p:cNvPicPr preferRelativeResize="0"/>
          <p:nvPr/>
        </p:nvPicPr>
        <p:blipFill rotWithShape="1">
          <a:blip r:embed="rId2">
            <a:alphaModFix/>
          </a:blip>
          <a:srcRect b="0" l="15024" r="15163" t="0"/>
          <a:stretch/>
        </p:blipFill>
        <p:spPr>
          <a:xfrm>
            <a:off x="8451170" y="155634"/>
            <a:ext cx="470381" cy="673752"/>
          </a:xfrm>
          <a:prstGeom prst="rect">
            <a:avLst/>
          </a:prstGeom>
          <a:noFill/>
          <a:ln>
            <a:noFill/>
          </a:ln>
        </p:spPr>
      </p:pic>
      <p:pic>
        <p:nvPicPr>
          <p:cNvPr descr="Formal_Viterbi_GoldOntrans.eps" id="143" name="Google Shape;143;p17"/>
          <p:cNvPicPr preferRelativeResize="0"/>
          <p:nvPr/>
        </p:nvPicPr>
        <p:blipFill rotWithShape="1">
          <a:blip r:embed="rId3">
            <a:alphaModFix/>
          </a:blip>
          <a:srcRect b="0" l="0" r="0" t="0"/>
          <a:stretch/>
        </p:blipFill>
        <p:spPr>
          <a:xfrm>
            <a:off x="231557" y="233652"/>
            <a:ext cx="1767559" cy="477058"/>
          </a:xfrm>
          <a:prstGeom prst="rect">
            <a:avLst/>
          </a:prstGeom>
          <a:noFill/>
          <a:ln>
            <a:noFill/>
          </a:ln>
        </p:spPr>
      </p:pic>
      <p:sp>
        <p:nvSpPr>
          <p:cNvPr id="144" name="Google Shape;144;p17"/>
          <p:cNvSpPr txBox="1"/>
          <p:nvPr>
            <p:ph type="title"/>
          </p:nvPr>
        </p:nvSpPr>
        <p:spPr>
          <a:xfrm>
            <a:off x="457200" y="2327961"/>
            <a:ext cx="8229600" cy="1126200"/>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rgbClr val="FFFFFF"/>
              </a:buClr>
              <a:buSzPts val="3400"/>
              <a:buFont typeface="Helvetica Neue"/>
              <a:buNone/>
              <a:defRPr b="1" i="0" sz="3400" u="none" cap="none" strike="noStrike">
                <a:solidFill>
                  <a:srgbClr val="FFFFFF"/>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45" name="Shape 145"/>
        <p:cNvGrpSpPr/>
        <p:nvPr/>
      </p:nvGrpSpPr>
      <p:grpSpPr>
        <a:xfrm>
          <a:off x="0" y="0"/>
          <a:ext cx="0" cy="0"/>
          <a:chOff x="0" y="0"/>
          <a:chExt cx="0" cy="0"/>
        </a:xfrm>
      </p:grpSpPr>
      <p:sp>
        <p:nvSpPr>
          <p:cNvPr id="146" name="Google Shape;146;p18"/>
          <p:cNvSpPr txBox="1"/>
          <p:nvPr>
            <p:ph type="title"/>
          </p:nvPr>
        </p:nvSpPr>
        <p:spPr>
          <a:xfrm>
            <a:off x="2053244" y="237614"/>
            <a:ext cx="6216300" cy="521400"/>
          </a:xfrm>
          <a:prstGeom prst="rect">
            <a:avLst/>
          </a:prstGeom>
          <a:noFill/>
          <a:ln>
            <a:noFill/>
          </a:ln>
        </p:spPr>
        <p:txBody>
          <a:bodyPr anchorCtr="0" anchor="t" bIns="45700" lIns="91425" spcFirstLastPara="1" rIns="91425" wrap="square" tIns="45700">
            <a:normAutofit/>
          </a:bodyPr>
          <a:lstStyle>
            <a:lvl1pPr lvl="0" marR="0" algn="ctr">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7" name="Google Shape;147;p18"/>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8" name="Google Shape;148;p18"/>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9" name="Google Shape;149;p18"/>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150" name="Google Shape;150;p18"/>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151" name="Google Shape;151;p18"/>
          <p:cNvPicPr preferRelativeResize="0"/>
          <p:nvPr/>
        </p:nvPicPr>
        <p:blipFill rotWithShape="1">
          <a:blip r:embed="rId3">
            <a:alphaModFix/>
          </a:blip>
          <a:srcRect b="0" l="0" r="0" t="0"/>
          <a:stretch/>
        </p:blipFill>
        <p:spPr>
          <a:xfrm>
            <a:off x="2" y="91985"/>
            <a:ext cx="2222498" cy="777876"/>
          </a:xfrm>
          <a:prstGeom prst="rect">
            <a:avLst/>
          </a:prstGeom>
          <a:noFill/>
          <a:ln>
            <a:noFill/>
          </a:ln>
        </p:spPr>
      </p:pic>
      <p:sp>
        <p:nvSpPr>
          <p:cNvPr id="152" name="Google Shape;152;p18"/>
          <p:cNvSpPr txBox="1"/>
          <p:nvPr>
            <p:ph idx="1" type="body"/>
          </p:nvPr>
        </p:nvSpPr>
        <p:spPr>
          <a:xfrm>
            <a:off x="443054" y="1038445"/>
            <a:ext cx="8229600" cy="49248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153" name="Shape 153"/>
        <p:cNvGrpSpPr/>
        <p:nvPr/>
      </p:nvGrpSpPr>
      <p:grpSpPr>
        <a:xfrm>
          <a:off x="0" y="0"/>
          <a:ext cx="0" cy="0"/>
          <a:chOff x="0" y="0"/>
          <a:chExt cx="0" cy="0"/>
        </a:xfrm>
      </p:grpSpPr>
      <p:sp>
        <p:nvSpPr>
          <p:cNvPr id="154" name="Google Shape;154;p19"/>
          <p:cNvSpPr txBox="1"/>
          <p:nvPr>
            <p:ph type="title"/>
          </p:nvPr>
        </p:nvSpPr>
        <p:spPr>
          <a:xfrm>
            <a:off x="2034988" y="201753"/>
            <a:ext cx="5913000" cy="429600"/>
          </a:xfrm>
          <a:prstGeom prst="rect">
            <a:avLst/>
          </a:prstGeom>
          <a:noFill/>
          <a:ln>
            <a:noFill/>
          </a:ln>
        </p:spPr>
        <p:txBody>
          <a:bodyPr anchorCtr="0" anchor="t" bIns="45700" lIns="91425" spcFirstLastPara="1" rIns="91425" wrap="square" tIns="45700">
            <a:normAutofit/>
          </a:bodyPr>
          <a:lstStyle>
            <a:lvl1pPr lvl="0" marR="0" algn="ctr">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5" name="Google Shape;155;p19"/>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56" name="Google Shape;156;p19"/>
          <p:cNvSpPr/>
          <p:nvPr/>
        </p:nvSpPr>
        <p:spPr>
          <a:xfrm>
            <a:off x="125733" y="163474"/>
            <a:ext cx="8864100" cy="8763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57" name="Google Shape;157;p19"/>
          <p:cNvSpPr/>
          <p:nvPr/>
        </p:nvSpPr>
        <p:spPr>
          <a:xfrm>
            <a:off x="8059271" y="163473"/>
            <a:ext cx="930600" cy="8763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158" name="Google Shape;158;p19"/>
          <p:cNvPicPr preferRelativeResize="0"/>
          <p:nvPr/>
        </p:nvPicPr>
        <p:blipFill rotWithShape="1">
          <a:blip r:embed="rId2">
            <a:alphaModFix/>
          </a:blip>
          <a:srcRect b="0" l="0" r="0" t="0"/>
          <a:stretch/>
        </p:blipFill>
        <p:spPr>
          <a:xfrm>
            <a:off x="8288718" y="231585"/>
            <a:ext cx="589712" cy="762091"/>
          </a:xfrm>
          <a:prstGeom prst="rect">
            <a:avLst/>
          </a:prstGeom>
          <a:noFill/>
          <a:ln>
            <a:noFill/>
          </a:ln>
        </p:spPr>
      </p:pic>
      <p:pic>
        <p:nvPicPr>
          <p:cNvPr descr="Formal_Viterbi_CardOnTrans.eps" id="159" name="Google Shape;159;p19"/>
          <p:cNvPicPr preferRelativeResize="0"/>
          <p:nvPr/>
        </p:nvPicPr>
        <p:blipFill rotWithShape="1">
          <a:blip r:embed="rId3">
            <a:alphaModFix/>
          </a:blip>
          <a:srcRect b="0" l="0" r="0" t="0"/>
          <a:stretch/>
        </p:blipFill>
        <p:spPr>
          <a:xfrm>
            <a:off x="2" y="127845"/>
            <a:ext cx="2222498" cy="777876"/>
          </a:xfrm>
          <a:prstGeom prst="rect">
            <a:avLst/>
          </a:prstGeom>
          <a:noFill/>
          <a:ln>
            <a:noFill/>
          </a:ln>
        </p:spPr>
      </p:pic>
      <p:sp>
        <p:nvSpPr>
          <p:cNvPr id="160" name="Google Shape;160;p19"/>
          <p:cNvSpPr txBox="1"/>
          <p:nvPr>
            <p:ph idx="1" type="body"/>
          </p:nvPr>
        </p:nvSpPr>
        <p:spPr>
          <a:xfrm>
            <a:off x="353974" y="1239152"/>
            <a:ext cx="8229600" cy="4952100"/>
          </a:xfrm>
          <a:prstGeom prst="rect">
            <a:avLst/>
          </a:prstGeom>
          <a:noFill/>
          <a:ln>
            <a:noFill/>
          </a:ln>
        </p:spPr>
        <p:txBody>
          <a:bodyPr anchorCtr="0" anchor="t" bIns="45700" lIns="91425" spcFirstLastPara="1" rIns="91425" wrap="square" tIns="45700">
            <a:noAutofit/>
          </a:bodyPr>
          <a:lstStyle>
            <a:lvl1pPr indent="-355600" lvl="0" marL="457200" marR="0" algn="l">
              <a:spcBef>
                <a:spcPts val="12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161" name="Google Shape;161;p19"/>
          <p:cNvSpPr txBox="1"/>
          <p:nvPr>
            <p:ph idx="2" type="body"/>
          </p:nvPr>
        </p:nvSpPr>
        <p:spPr>
          <a:xfrm>
            <a:off x="2034381" y="630890"/>
            <a:ext cx="5913300" cy="373200"/>
          </a:xfrm>
          <a:prstGeom prst="rect">
            <a:avLst/>
          </a:prstGeom>
          <a:noFill/>
          <a:ln>
            <a:noFill/>
          </a:ln>
        </p:spPr>
        <p:txBody>
          <a:bodyPr anchorCtr="0" anchor="t" bIns="45700" lIns="91425" spcFirstLastPara="1" rIns="91425" wrap="square" tIns="45700">
            <a:noAutofit/>
          </a:bodyPr>
          <a:lstStyle>
            <a:lvl1pPr indent="-228600" lvl="0" marL="457200" marR="0" algn="ctr">
              <a:spcBef>
                <a:spcPts val="0"/>
              </a:spcBef>
              <a:spcAft>
                <a:spcPts val="0"/>
              </a:spcAft>
              <a:buClr>
                <a:srgbClr val="990000"/>
              </a:buClr>
              <a:buSzPts val="2000"/>
              <a:buFont typeface="Merriweather Sans"/>
              <a:buNone/>
              <a:defRPr b="1" i="0" sz="2000" u="none" cap="none" strike="noStrike">
                <a:solidFill>
                  <a:srgbClr val="990000"/>
                </a:solidFill>
                <a:latin typeface="Helvetica Neue"/>
                <a:ea typeface="Helvetica Neue"/>
                <a:cs typeface="Helvetica Neue"/>
                <a:sym typeface="Helvetica Neue"/>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2"/>
        </a:solidFill>
      </p:bgPr>
    </p:bg>
    <p:spTree>
      <p:nvGrpSpPr>
        <p:cNvPr id="162" name="Shape 162"/>
        <p:cNvGrpSpPr/>
        <p:nvPr/>
      </p:nvGrpSpPr>
      <p:grpSpPr>
        <a:xfrm>
          <a:off x="0" y="0"/>
          <a:ext cx="0" cy="0"/>
          <a:chOff x="0" y="0"/>
          <a:chExt cx="0" cy="0"/>
        </a:xfrm>
      </p:grpSpPr>
      <p:sp>
        <p:nvSpPr>
          <p:cNvPr id="163" name="Google Shape;163;p20"/>
          <p:cNvSpPr txBox="1"/>
          <p:nvPr>
            <p:ph type="ctrTitle"/>
          </p:nvPr>
        </p:nvSpPr>
        <p:spPr>
          <a:xfrm>
            <a:off x="333472" y="1660626"/>
            <a:ext cx="6400800" cy="4047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lt1"/>
              </a:buClr>
              <a:buSzPts val="8800"/>
              <a:buFont typeface="Helvetica Neue Light"/>
              <a:buNone/>
              <a:defRPr b="1" i="0" sz="8800" u="none" cap="none" strike="noStrike">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4" name="Google Shape;164;p20"/>
          <p:cNvSpPr txBox="1"/>
          <p:nvPr>
            <p:ph idx="10" type="dt"/>
          </p:nvPr>
        </p:nvSpPr>
        <p:spPr>
          <a:xfrm>
            <a:off x="7112000" y="6356351"/>
            <a:ext cx="1878000" cy="365100"/>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lvl1pPr lvl="0" marR="0" algn="r">
              <a:spcBef>
                <a:spcPts val="0"/>
              </a:spcBef>
              <a:spcAft>
                <a:spcPts val="0"/>
              </a:spcAft>
              <a:buSzPts val="1400"/>
              <a:buNone/>
              <a:defRPr b="0" i="0" sz="1800">
                <a:solidFill>
                  <a:schemeClr val="lt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5" name="Google Shape;165;p20"/>
          <p:cNvSpPr txBox="1"/>
          <p:nvPr>
            <p:ph idx="11" type="ftr"/>
          </p:nvPr>
        </p:nvSpPr>
        <p:spPr>
          <a:xfrm>
            <a:off x="125735" y="6356351"/>
            <a:ext cx="6986400" cy="365100"/>
          </a:xfrm>
          <a:prstGeom prst="rect">
            <a:avLst/>
          </a:prstGeom>
          <a:noFill/>
          <a:ln cap="flat" cmpd="sng" w="12700">
            <a:solidFill>
              <a:schemeClr val="lt1"/>
            </a:solidFill>
            <a:prstDash val="solid"/>
            <a:round/>
            <a:headEnd len="sm" w="sm" type="none"/>
            <a:tailEnd len="sm" w="sm" type="none"/>
          </a:ln>
        </p:spPr>
        <p:txBody>
          <a:bodyPr anchorCtr="0" anchor="t" bIns="45700" lIns="91425" spcFirstLastPara="1" rIns="91425" wrap="square" tIns="45700">
            <a:noAutofit/>
          </a:bodyPr>
          <a:lstStyle>
            <a:lvl1pPr lvl="0" marR="0" algn="l">
              <a:spcBef>
                <a:spcPts val="0"/>
              </a:spcBef>
              <a:spcAft>
                <a:spcPts val="0"/>
              </a:spcAft>
              <a:buSzPts val="1400"/>
              <a:buNone/>
              <a:defRPr b="0" i="0" sz="1800" cap="none">
                <a:solidFill>
                  <a:srgbClr val="FFFFFF"/>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6" name="Google Shape;166;p20"/>
          <p:cNvSpPr/>
          <p:nvPr/>
        </p:nvSpPr>
        <p:spPr>
          <a:xfrm>
            <a:off x="125733" y="163473"/>
            <a:ext cx="8864100" cy="65580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7" name="Google Shape;167;p20"/>
          <p:cNvSpPr/>
          <p:nvPr/>
        </p:nvSpPr>
        <p:spPr>
          <a:xfrm>
            <a:off x="125733" y="163472"/>
            <a:ext cx="8864100" cy="8796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8" name="Google Shape;168;p20"/>
          <p:cNvSpPr/>
          <p:nvPr/>
        </p:nvSpPr>
        <p:spPr>
          <a:xfrm>
            <a:off x="8146145" y="163474"/>
            <a:ext cx="843900" cy="879600"/>
          </a:xfrm>
          <a:prstGeom prst="rect">
            <a:avLst/>
          </a:prstGeom>
          <a:solidFill>
            <a:srgbClr val="FFFFFF"/>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Formal_Viterbi_GoldOntrans.eps" id="169" name="Google Shape;169;p20"/>
          <p:cNvPicPr preferRelativeResize="0"/>
          <p:nvPr/>
        </p:nvPicPr>
        <p:blipFill rotWithShape="1">
          <a:blip r:embed="rId2">
            <a:alphaModFix/>
          </a:blip>
          <a:srcRect b="0" l="0" r="0" t="0"/>
          <a:stretch/>
        </p:blipFill>
        <p:spPr>
          <a:xfrm>
            <a:off x="333472" y="292986"/>
            <a:ext cx="2357235" cy="636208"/>
          </a:xfrm>
          <a:prstGeom prst="rect">
            <a:avLst/>
          </a:prstGeom>
          <a:noFill/>
          <a:ln>
            <a:noFill/>
          </a:ln>
        </p:spPr>
      </p:pic>
      <p:pic>
        <p:nvPicPr>
          <p:cNvPr descr="Small Use Shield_CardOnTrans.eps" id="170" name="Google Shape;170;p20"/>
          <p:cNvPicPr preferRelativeResize="0"/>
          <p:nvPr/>
        </p:nvPicPr>
        <p:blipFill rotWithShape="1">
          <a:blip r:embed="rId3">
            <a:alphaModFix/>
          </a:blip>
          <a:srcRect b="0" l="0" r="0" t="0"/>
          <a:stretch/>
        </p:blipFill>
        <p:spPr>
          <a:xfrm>
            <a:off x="8146145" y="190686"/>
            <a:ext cx="843832" cy="84383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71" name="Shape 171"/>
        <p:cNvGrpSpPr/>
        <p:nvPr/>
      </p:nvGrpSpPr>
      <p:grpSpPr>
        <a:xfrm>
          <a:off x="0" y="0"/>
          <a:ext cx="0" cy="0"/>
          <a:chOff x="0" y="0"/>
          <a:chExt cx="0" cy="0"/>
        </a:xfrm>
      </p:grpSpPr>
      <p:sp>
        <p:nvSpPr>
          <p:cNvPr id="172" name="Google Shape;172;p21"/>
          <p:cNvSpPr txBox="1"/>
          <p:nvPr>
            <p:ph type="title"/>
          </p:nvPr>
        </p:nvSpPr>
        <p:spPr>
          <a:xfrm>
            <a:off x="457200" y="904494"/>
            <a:ext cx="8229600" cy="5214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3" name="Google Shape;173;p21"/>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4" name="Google Shape;174;p21"/>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5" name="Google Shape;175;p21"/>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176" name="Google Shape;176;p21"/>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177" name="Google Shape;177;p21"/>
          <p:cNvPicPr preferRelativeResize="0"/>
          <p:nvPr/>
        </p:nvPicPr>
        <p:blipFill rotWithShape="1">
          <a:blip r:embed="rId3">
            <a:alphaModFix/>
          </a:blip>
          <a:srcRect b="0" l="0" r="0" t="0"/>
          <a:stretch/>
        </p:blipFill>
        <p:spPr>
          <a:xfrm>
            <a:off x="2" y="91985"/>
            <a:ext cx="2222498" cy="7778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bg>
      <p:bgPr>
        <a:solidFill>
          <a:schemeClr val="lt2"/>
        </a:solidFill>
      </p:bgPr>
    </p:bg>
    <p:spTree>
      <p:nvGrpSpPr>
        <p:cNvPr id="178" name="Shape 178"/>
        <p:cNvGrpSpPr/>
        <p:nvPr/>
      </p:nvGrpSpPr>
      <p:grpSpPr>
        <a:xfrm>
          <a:off x="0" y="0"/>
          <a:ext cx="0" cy="0"/>
          <a:chOff x="0" y="0"/>
          <a:chExt cx="0" cy="0"/>
        </a:xfrm>
      </p:grpSpPr>
      <p:sp>
        <p:nvSpPr>
          <p:cNvPr id="179" name="Google Shape;179;p22"/>
          <p:cNvSpPr/>
          <p:nvPr/>
        </p:nvSpPr>
        <p:spPr>
          <a:xfrm>
            <a:off x="125733" y="163473"/>
            <a:ext cx="8864100" cy="65580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0" name="Google Shape;180;p22"/>
          <p:cNvSpPr/>
          <p:nvPr/>
        </p:nvSpPr>
        <p:spPr>
          <a:xfrm>
            <a:off x="125733" y="163474"/>
            <a:ext cx="8864100" cy="6348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1" name="Google Shape;181;p22"/>
          <p:cNvSpPr/>
          <p:nvPr/>
        </p:nvSpPr>
        <p:spPr>
          <a:xfrm>
            <a:off x="8381074" y="163474"/>
            <a:ext cx="609000" cy="634800"/>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CardOnTrans.eps" id="182" name="Google Shape;182;p22"/>
          <p:cNvPicPr preferRelativeResize="0"/>
          <p:nvPr/>
        </p:nvPicPr>
        <p:blipFill rotWithShape="1">
          <a:blip r:embed="rId2">
            <a:alphaModFix/>
          </a:blip>
          <a:srcRect b="0" l="15024" r="15163" t="0"/>
          <a:stretch/>
        </p:blipFill>
        <p:spPr>
          <a:xfrm>
            <a:off x="8451170" y="155634"/>
            <a:ext cx="470381" cy="673752"/>
          </a:xfrm>
          <a:prstGeom prst="rect">
            <a:avLst/>
          </a:prstGeom>
          <a:noFill/>
          <a:ln>
            <a:noFill/>
          </a:ln>
        </p:spPr>
      </p:pic>
      <p:pic>
        <p:nvPicPr>
          <p:cNvPr descr="Formal_Viterbi_GoldOntrans.eps" id="183" name="Google Shape;183;p22"/>
          <p:cNvPicPr preferRelativeResize="0"/>
          <p:nvPr/>
        </p:nvPicPr>
        <p:blipFill rotWithShape="1">
          <a:blip r:embed="rId3">
            <a:alphaModFix/>
          </a:blip>
          <a:srcRect b="0" l="0" r="0" t="0"/>
          <a:stretch/>
        </p:blipFill>
        <p:spPr>
          <a:xfrm>
            <a:off x="231557" y="233652"/>
            <a:ext cx="1767559" cy="477058"/>
          </a:xfrm>
          <a:prstGeom prst="rect">
            <a:avLst/>
          </a:prstGeom>
          <a:noFill/>
          <a:ln>
            <a:noFill/>
          </a:ln>
        </p:spPr>
      </p:pic>
      <p:sp>
        <p:nvSpPr>
          <p:cNvPr id="184" name="Google Shape;184;p22"/>
          <p:cNvSpPr txBox="1"/>
          <p:nvPr>
            <p:ph type="title"/>
          </p:nvPr>
        </p:nvSpPr>
        <p:spPr>
          <a:xfrm>
            <a:off x="2169622" y="233652"/>
            <a:ext cx="6143100" cy="521400"/>
          </a:xfrm>
          <a:prstGeom prst="rect">
            <a:avLst/>
          </a:prstGeom>
          <a:noFill/>
          <a:ln>
            <a:noFill/>
          </a:ln>
        </p:spPr>
        <p:txBody>
          <a:bodyPr anchorCtr="0" anchor="t" bIns="45700" lIns="91425" spcFirstLastPara="1" rIns="91425" wrap="square" tIns="45700">
            <a:normAutofit/>
          </a:bodyPr>
          <a:lstStyle>
            <a:lvl1pPr lvl="0" marR="0" algn="ctr">
              <a:spcBef>
                <a:spcPts val="0"/>
              </a:spcBef>
              <a:spcAft>
                <a:spcPts val="0"/>
              </a:spcAft>
              <a:buClr>
                <a:srgbClr val="FFFFFF"/>
              </a:buClr>
              <a:buSzPts val="2400"/>
              <a:buFont typeface="Helvetica Neue"/>
              <a:buNone/>
              <a:defRPr b="1" i="0" sz="2400" u="none" cap="none" strike="noStrike">
                <a:solidFill>
                  <a:srgbClr val="FFFFFF"/>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5" name="Google Shape;185;p22"/>
          <p:cNvSpPr txBox="1"/>
          <p:nvPr>
            <p:ph idx="1" type="body"/>
          </p:nvPr>
        </p:nvSpPr>
        <p:spPr>
          <a:xfrm>
            <a:off x="443054" y="980052"/>
            <a:ext cx="8229600" cy="49248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rgbClr val="FFFFFF"/>
              </a:buClr>
              <a:buSzPts val="2000"/>
              <a:buFont typeface="Merriweather Sans"/>
              <a:buChar char="»"/>
              <a:defRPr b="0" i="0" sz="2000" u="none" cap="none" strike="noStrike">
                <a:solidFill>
                  <a:srgbClr val="FFFFFF"/>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bg>
      <p:bgPr>
        <a:solidFill>
          <a:schemeClr val="lt2"/>
        </a:solidFill>
      </p:bgPr>
    </p:bg>
    <p:spTree>
      <p:nvGrpSpPr>
        <p:cNvPr id="186" name="Shape 186"/>
        <p:cNvGrpSpPr/>
        <p:nvPr/>
      </p:nvGrpSpPr>
      <p:grpSpPr>
        <a:xfrm>
          <a:off x="0" y="0"/>
          <a:ext cx="0" cy="0"/>
          <a:chOff x="0" y="0"/>
          <a:chExt cx="0" cy="0"/>
        </a:xfrm>
      </p:grpSpPr>
      <p:sp>
        <p:nvSpPr>
          <p:cNvPr id="187" name="Google Shape;187;p23"/>
          <p:cNvSpPr/>
          <p:nvPr/>
        </p:nvSpPr>
        <p:spPr>
          <a:xfrm>
            <a:off x="125733" y="163473"/>
            <a:ext cx="8864100" cy="65580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8" name="Google Shape;188;p23"/>
          <p:cNvSpPr/>
          <p:nvPr/>
        </p:nvSpPr>
        <p:spPr>
          <a:xfrm>
            <a:off x="125733" y="163474"/>
            <a:ext cx="8864100" cy="634800"/>
          </a:xfrm>
          <a:prstGeom prst="rect">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9" name="Google Shape;189;p23"/>
          <p:cNvSpPr/>
          <p:nvPr/>
        </p:nvSpPr>
        <p:spPr>
          <a:xfrm>
            <a:off x="8381074" y="163474"/>
            <a:ext cx="609000" cy="634800"/>
          </a:xfrm>
          <a:prstGeom prst="rect">
            <a:avLst/>
          </a:prstGeom>
          <a:solidFill>
            <a:schemeClr val="lt1"/>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0" name="Google Shape;190;p23"/>
          <p:cNvSpPr txBox="1"/>
          <p:nvPr>
            <p:ph idx="1" type="body"/>
          </p:nvPr>
        </p:nvSpPr>
        <p:spPr>
          <a:xfrm>
            <a:off x="1379783" y="1810613"/>
            <a:ext cx="6350100" cy="2736600"/>
          </a:xfrm>
          <a:prstGeom prst="rect">
            <a:avLst/>
          </a:prstGeom>
          <a:noFill/>
          <a:ln>
            <a:noFill/>
          </a:ln>
        </p:spPr>
        <p:txBody>
          <a:bodyPr anchorCtr="0" anchor="t" bIns="45700" lIns="91425" spcFirstLastPara="1" rIns="91425" wrap="square" tIns="45700">
            <a:noAutofit/>
          </a:bodyPr>
          <a:lstStyle>
            <a:lvl1pPr indent="-228600" lvl="0" marL="457200" marR="0" algn="ctr">
              <a:spcBef>
                <a:spcPts val="800"/>
              </a:spcBef>
              <a:spcAft>
                <a:spcPts val="0"/>
              </a:spcAft>
              <a:buClr>
                <a:schemeClr val="lt1"/>
              </a:buClr>
              <a:buSzPts val="4000"/>
              <a:buFont typeface="Merriweather Sans"/>
              <a:buNone/>
              <a:defRPr b="1" i="0" sz="4000" u="none" cap="none" strike="noStrike">
                <a:solidFill>
                  <a:schemeClr val="lt1"/>
                </a:solidFill>
                <a:latin typeface="Helvetica Neue"/>
                <a:ea typeface="Helvetica Neue"/>
                <a:cs typeface="Helvetica Neue"/>
                <a:sym typeface="Helvetica Neue"/>
              </a:defRPr>
            </a:lvl1pPr>
            <a:lvl2pPr indent="-355600" lvl="1" marL="914400" marR="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lt1"/>
              </a:buClr>
              <a:buSzPts val="2000"/>
              <a:buFont typeface="Merriweather Sans"/>
              <a:buChar char="»"/>
              <a:defRPr b="0" i="0" sz="2000" u="none" cap="none" strike="noStrike">
                <a:solidFill>
                  <a:schemeClr val="lt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pic>
        <p:nvPicPr>
          <p:cNvPr descr="Small Use Shield_CardOnTrans.eps" id="191" name="Google Shape;191;p23"/>
          <p:cNvPicPr preferRelativeResize="0"/>
          <p:nvPr/>
        </p:nvPicPr>
        <p:blipFill rotWithShape="1">
          <a:blip r:embed="rId2">
            <a:alphaModFix/>
          </a:blip>
          <a:srcRect b="0" l="15024" r="15163" t="0"/>
          <a:stretch/>
        </p:blipFill>
        <p:spPr>
          <a:xfrm>
            <a:off x="8451170" y="155634"/>
            <a:ext cx="470381" cy="673752"/>
          </a:xfrm>
          <a:prstGeom prst="rect">
            <a:avLst/>
          </a:prstGeom>
          <a:noFill/>
          <a:ln>
            <a:noFill/>
          </a:ln>
        </p:spPr>
      </p:pic>
      <p:pic>
        <p:nvPicPr>
          <p:cNvPr descr="Formal_Viterbi_GoldOntrans.eps" id="192" name="Google Shape;192;p23"/>
          <p:cNvPicPr preferRelativeResize="0"/>
          <p:nvPr/>
        </p:nvPicPr>
        <p:blipFill rotWithShape="1">
          <a:blip r:embed="rId3">
            <a:alphaModFix/>
          </a:blip>
          <a:srcRect b="0" l="0" r="0" t="0"/>
          <a:stretch/>
        </p:blipFill>
        <p:spPr>
          <a:xfrm>
            <a:off x="231557" y="233652"/>
            <a:ext cx="1767559" cy="477058"/>
          </a:xfrm>
          <a:prstGeom prst="rect">
            <a:avLst/>
          </a:prstGeom>
          <a:noFill/>
          <a:ln>
            <a:noFill/>
          </a:ln>
        </p:spPr>
      </p:pic>
      <p:sp>
        <p:nvSpPr>
          <p:cNvPr id="193" name="Google Shape;193;p23"/>
          <p:cNvSpPr txBox="1"/>
          <p:nvPr>
            <p:ph idx="2" type="body"/>
          </p:nvPr>
        </p:nvSpPr>
        <p:spPr>
          <a:xfrm>
            <a:off x="1379539" y="4645026"/>
            <a:ext cx="2436600" cy="471600"/>
          </a:xfrm>
          <a:prstGeom prst="rect">
            <a:avLst/>
          </a:prstGeom>
          <a:noFill/>
          <a:ln>
            <a:noFill/>
          </a:ln>
        </p:spPr>
        <p:txBody>
          <a:bodyPr anchorCtr="0" anchor="t" bIns="45700" lIns="91425" spcFirstLastPara="1" rIns="91425" wrap="square" tIns="45700">
            <a:noAutofit/>
          </a:bodyPr>
          <a:lstStyle>
            <a:lvl1pPr indent="-228600" lvl="0" marL="4572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Bullets">
  <p:cSld name="2 Images + Bullets">
    <p:spTree>
      <p:nvGrpSpPr>
        <p:cNvPr id="194" name="Shape 194"/>
        <p:cNvGrpSpPr/>
        <p:nvPr/>
      </p:nvGrpSpPr>
      <p:grpSpPr>
        <a:xfrm>
          <a:off x="0" y="0"/>
          <a:ext cx="0" cy="0"/>
          <a:chOff x="0" y="0"/>
          <a:chExt cx="0" cy="0"/>
        </a:xfrm>
      </p:grpSpPr>
      <p:sp>
        <p:nvSpPr>
          <p:cNvPr id="195" name="Google Shape;195;p24"/>
          <p:cNvSpPr txBox="1"/>
          <p:nvPr>
            <p:ph type="title"/>
          </p:nvPr>
        </p:nvSpPr>
        <p:spPr>
          <a:xfrm>
            <a:off x="457200" y="904494"/>
            <a:ext cx="8229600" cy="5214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24"/>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7" name="Google Shape;197;p24"/>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8" name="Google Shape;198;p24"/>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199" name="Google Shape;199;p24"/>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200" name="Google Shape;200;p24"/>
          <p:cNvPicPr preferRelativeResize="0"/>
          <p:nvPr/>
        </p:nvPicPr>
        <p:blipFill rotWithShape="1">
          <a:blip r:embed="rId3">
            <a:alphaModFix/>
          </a:blip>
          <a:srcRect b="0" l="0" r="0" t="0"/>
          <a:stretch/>
        </p:blipFill>
        <p:spPr>
          <a:xfrm>
            <a:off x="2" y="91985"/>
            <a:ext cx="2222498" cy="777876"/>
          </a:xfrm>
          <a:prstGeom prst="rect">
            <a:avLst/>
          </a:prstGeom>
          <a:noFill/>
          <a:ln>
            <a:noFill/>
          </a:ln>
        </p:spPr>
      </p:pic>
      <p:sp>
        <p:nvSpPr>
          <p:cNvPr id="201" name="Google Shape;201;p24"/>
          <p:cNvSpPr txBox="1"/>
          <p:nvPr>
            <p:ph idx="1" type="body"/>
          </p:nvPr>
        </p:nvSpPr>
        <p:spPr>
          <a:xfrm>
            <a:off x="4045385" y="1538896"/>
            <a:ext cx="4641300" cy="23019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02" name="Google Shape;202;p24"/>
          <p:cNvSpPr txBox="1"/>
          <p:nvPr>
            <p:ph idx="2" type="body"/>
          </p:nvPr>
        </p:nvSpPr>
        <p:spPr>
          <a:xfrm>
            <a:off x="4045385" y="3939120"/>
            <a:ext cx="4641300" cy="24363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03" name="Google Shape;203;p24"/>
          <p:cNvSpPr/>
          <p:nvPr>
            <p:ph idx="3" type="pic"/>
          </p:nvPr>
        </p:nvSpPr>
        <p:spPr>
          <a:xfrm>
            <a:off x="457200" y="1538896"/>
            <a:ext cx="3479700" cy="2301900"/>
          </a:xfrm>
          <a:prstGeom prst="rect">
            <a:avLst/>
          </a:prstGeom>
          <a:noFill/>
          <a:ln>
            <a:noFill/>
          </a:ln>
        </p:spPr>
      </p:sp>
      <p:sp>
        <p:nvSpPr>
          <p:cNvPr id="204" name="Google Shape;204;p24"/>
          <p:cNvSpPr/>
          <p:nvPr>
            <p:ph idx="4" type="pic"/>
          </p:nvPr>
        </p:nvSpPr>
        <p:spPr>
          <a:xfrm>
            <a:off x="457200" y="3939119"/>
            <a:ext cx="3479700" cy="24369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Text">
  <p:cSld name="Chart + Text">
    <p:spTree>
      <p:nvGrpSpPr>
        <p:cNvPr id="205" name="Shape 205"/>
        <p:cNvGrpSpPr/>
        <p:nvPr/>
      </p:nvGrpSpPr>
      <p:grpSpPr>
        <a:xfrm>
          <a:off x="0" y="0"/>
          <a:ext cx="0" cy="0"/>
          <a:chOff x="0" y="0"/>
          <a:chExt cx="0" cy="0"/>
        </a:xfrm>
      </p:grpSpPr>
      <p:sp>
        <p:nvSpPr>
          <p:cNvPr id="206" name="Google Shape;206;p25"/>
          <p:cNvSpPr txBox="1"/>
          <p:nvPr>
            <p:ph type="title"/>
          </p:nvPr>
        </p:nvSpPr>
        <p:spPr>
          <a:xfrm>
            <a:off x="293689" y="831926"/>
            <a:ext cx="8584800" cy="5214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25"/>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08" name="Google Shape;208;p25"/>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09" name="Google Shape;209;p25"/>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210" name="Google Shape;210;p25"/>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211" name="Google Shape;211;p25"/>
          <p:cNvPicPr preferRelativeResize="0"/>
          <p:nvPr/>
        </p:nvPicPr>
        <p:blipFill rotWithShape="1">
          <a:blip r:embed="rId3">
            <a:alphaModFix/>
          </a:blip>
          <a:srcRect b="0" l="0" r="0" t="0"/>
          <a:stretch/>
        </p:blipFill>
        <p:spPr>
          <a:xfrm>
            <a:off x="2" y="91985"/>
            <a:ext cx="2222498" cy="777876"/>
          </a:xfrm>
          <a:prstGeom prst="rect">
            <a:avLst/>
          </a:prstGeom>
          <a:noFill/>
          <a:ln>
            <a:noFill/>
          </a:ln>
        </p:spPr>
      </p:pic>
      <p:sp>
        <p:nvSpPr>
          <p:cNvPr id="212" name="Google Shape;212;p25"/>
          <p:cNvSpPr txBox="1"/>
          <p:nvPr>
            <p:ph idx="1" type="body"/>
          </p:nvPr>
        </p:nvSpPr>
        <p:spPr>
          <a:xfrm>
            <a:off x="294106" y="5577039"/>
            <a:ext cx="8584200" cy="9159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13" name="Google Shape;213;p25"/>
          <p:cNvSpPr txBox="1"/>
          <p:nvPr>
            <p:ph idx="2" type="body"/>
          </p:nvPr>
        </p:nvSpPr>
        <p:spPr>
          <a:xfrm>
            <a:off x="293688" y="1519944"/>
            <a:ext cx="8585100" cy="3908100"/>
          </a:xfrm>
          <a:prstGeom prst="rect">
            <a:avLst/>
          </a:prstGeom>
          <a:noFill/>
          <a:ln>
            <a:noFill/>
          </a:ln>
        </p:spPr>
        <p:txBody>
          <a:bodyPr anchorCtr="0" anchor="t" bIns="45700" lIns="91425" spcFirstLastPara="1" rIns="91425" wrap="square" tIns="45700">
            <a:noAutofit/>
          </a:bodyPr>
          <a:lstStyle>
            <a:lvl1pPr indent="-228600" lvl="0" marL="4572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55600" lvl="3" marL="18288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indent="-355600" lvl="4" marL="22860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image">
  <p:cSld name="Primary image">
    <p:bg>
      <p:bgPr>
        <a:solidFill>
          <a:schemeClr val="lt1"/>
        </a:solidFill>
      </p:bgPr>
    </p:bg>
    <p:spTree>
      <p:nvGrpSpPr>
        <p:cNvPr id="214" name="Shape 214"/>
        <p:cNvGrpSpPr/>
        <p:nvPr/>
      </p:nvGrpSpPr>
      <p:grpSpPr>
        <a:xfrm>
          <a:off x="0" y="0"/>
          <a:ext cx="0" cy="0"/>
          <a:chOff x="0" y="0"/>
          <a:chExt cx="0" cy="0"/>
        </a:xfrm>
      </p:grpSpPr>
      <p:sp>
        <p:nvSpPr>
          <p:cNvPr id="215" name="Google Shape;215;p26"/>
          <p:cNvSpPr/>
          <p:nvPr>
            <p:ph idx="2" type="pic"/>
          </p:nvPr>
        </p:nvSpPr>
        <p:spPr>
          <a:xfrm>
            <a:off x="1" y="-1"/>
            <a:ext cx="9144000" cy="6858000"/>
          </a:xfrm>
          <a:prstGeom prst="rect">
            <a:avLst/>
          </a:prstGeom>
          <a:noFill/>
          <a:ln>
            <a:noFill/>
          </a:ln>
        </p:spPr>
      </p:sp>
      <p:sp>
        <p:nvSpPr>
          <p:cNvPr id="216" name="Google Shape;216;p26"/>
          <p:cNvSpPr/>
          <p:nvPr/>
        </p:nvSpPr>
        <p:spPr>
          <a:xfrm>
            <a:off x="552882" y="4973054"/>
            <a:ext cx="2709000" cy="18849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7" name="Google Shape;217;p26"/>
          <p:cNvSpPr txBox="1"/>
          <p:nvPr>
            <p:ph idx="1" type="body"/>
          </p:nvPr>
        </p:nvSpPr>
        <p:spPr>
          <a:xfrm>
            <a:off x="552881" y="4973639"/>
            <a:ext cx="2709300" cy="462600"/>
          </a:xfrm>
          <a:prstGeom prst="rect">
            <a:avLst/>
          </a:prstGeom>
          <a:solidFill>
            <a:schemeClr val="lt2"/>
          </a:solidFill>
          <a:ln>
            <a:noFill/>
          </a:ln>
        </p:spPr>
        <p:txBody>
          <a:bodyPr anchorCtr="0" anchor="t" bIns="45700" lIns="91425" spcFirstLastPara="1" rIns="91425" wrap="square" tIns="45700">
            <a:noAutofit/>
          </a:bodyPr>
          <a:lstStyle>
            <a:lvl1pPr indent="-228600" lvl="0" marL="457200" marR="0" algn="l">
              <a:spcBef>
                <a:spcPts val="400"/>
              </a:spcBef>
              <a:spcAft>
                <a:spcPts val="0"/>
              </a:spcAft>
              <a:buClr>
                <a:schemeClr val="lt1"/>
              </a:buClr>
              <a:buSzPts val="2000"/>
              <a:buFont typeface="Merriweather Sans"/>
              <a:buNone/>
              <a:defRPr b="0" i="0" sz="2000" u="none" cap="none" strike="noStrike">
                <a:solidFill>
                  <a:schemeClr val="lt1"/>
                </a:solidFill>
                <a:latin typeface="Helvetica Neue"/>
                <a:ea typeface="Helvetica Neue"/>
                <a:cs typeface="Helvetica Neue"/>
                <a:sym typeface="Helvetica Neue"/>
              </a:defRPr>
            </a:lvl1pPr>
            <a:lvl2pPr indent="-355600" lvl="1" marL="9144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2pPr>
            <a:lvl3pPr indent="-355600" lvl="2" marL="13716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3pPr>
            <a:lvl4pPr indent="-355600" lvl="3" marL="18288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4pPr>
            <a:lvl5pPr indent="-355600" lvl="4" marL="22860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18" name="Google Shape;218;p26"/>
          <p:cNvSpPr txBox="1"/>
          <p:nvPr>
            <p:ph idx="3" type="body"/>
          </p:nvPr>
        </p:nvSpPr>
        <p:spPr>
          <a:xfrm>
            <a:off x="552882" y="5436177"/>
            <a:ext cx="2709000" cy="1421700"/>
          </a:xfrm>
          <a:prstGeom prst="rect">
            <a:avLst/>
          </a:prstGeom>
          <a:solidFill>
            <a:schemeClr val="lt2"/>
          </a:solidFill>
          <a:ln>
            <a:noFill/>
          </a:ln>
        </p:spPr>
        <p:txBody>
          <a:bodyPr anchorCtr="0" anchor="t" bIns="45700" lIns="91425" spcFirstLastPara="1" rIns="91425" wrap="square" tIns="45700">
            <a:noAutofit/>
          </a:bodyPr>
          <a:lstStyle>
            <a:lvl1pPr indent="-228600" lvl="0" marL="457200" marR="0" algn="l">
              <a:spcBef>
                <a:spcPts val="400"/>
              </a:spcBef>
              <a:spcAft>
                <a:spcPts val="0"/>
              </a:spcAft>
              <a:buClr>
                <a:schemeClr val="lt1"/>
              </a:buClr>
              <a:buSzPts val="2000"/>
              <a:buFont typeface="Merriweather Sans"/>
              <a:buNone/>
              <a:defRPr b="0" i="0" sz="2000" u="none" cap="none" strike="noStrike">
                <a:solidFill>
                  <a:schemeClr val="lt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2pPr>
            <a:lvl3pPr indent="-355600" lvl="2" marL="13716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3pPr>
            <a:lvl4pPr indent="-355600" lvl="3" marL="18288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4pPr>
            <a:lvl5pPr indent="-355600" lvl="4" marL="2286000" marR="0" algn="l">
              <a:spcBef>
                <a:spcPts val="400"/>
              </a:spcBef>
              <a:spcAft>
                <a:spcPts val="0"/>
              </a:spcAft>
              <a:buClr>
                <a:schemeClr val="lt1"/>
              </a:buClr>
              <a:buSzPts val="2000"/>
              <a:buFont typeface="Merriweather Sans"/>
              <a:buChar char="»"/>
              <a:defRPr b="0" i="0" sz="2000" u="none" cap="none" strike="noStrike">
                <a:solidFill>
                  <a:schemeClr val="lt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Faculty/ Thumbnails">
  <p:cSld name="New Faculty/ Thumbnails">
    <p:spTree>
      <p:nvGrpSpPr>
        <p:cNvPr id="219" name="Shape 219"/>
        <p:cNvGrpSpPr/>
        <p:nvPr/>
      </p:nvGrpSpPr>
      <p:grpSpPr>
        <a:xfrm>
          <a:off x="0" y="0"/>
          <a:ext cx="0" cy="0"/>
          <a:chOff x="0" y="0"/>
          <a:chExt cx="0" cy="0"/>
        </a:xfrm>
      </p:grpSpPr>
      <p:sp>
        <p:nvSpPr>
          <p:cNvPr id="220" name="Google Shape;220;p27"/>
          <p:cNvSpPr txBox="1"/>
          <p:nvPr>
            <p:ph type="title"/>
          </p:nvPr>
        </p:nvSpPr>
        <p:spPr>
          <a:xfrm>
            <a:off x="263019" y="851932"/>
            <a:ext cx="8229600" cy="5214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27"/>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22" name="Google Shape;222;p27"/>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23" name="Google Shape;223;p27"/>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224" name="Google Shape;224;p27"/>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225" name="Google Shape;225;p27"/>
          <p:cNvPicPr preferRelativeResize="0"/>
          <p:nvPr/>
        </p:nvPicPr>
        <p:blipFill rotWithShape="1">
          <a:blip r:embed="rId3">
            <a:alphaModFix/>
          </a:blip>
          <a:srcRect b="0" l="0" r="0" t="0"/>
          <a:stretch/>
        </p:blipFill>
        <p:spPr>
          <a:xfrm>
            <a:off x="2" y="91985"/>
            <a:ext cx="2222498" cy="777876"/>
          </a:xfrm>
          <a:prstGeom prst="rect">
            <a:avLst/>
          </a:prstGeom>
          <a:noFill/>
          <a:ln>
            <a:noFill/>
          </a:ln>
        </p:spPr>
      </p:pic>
      <p:sp>
        <p:nvSpPr>
          <p:cNvPr id="226" name="Google Shape;226;p27"/>
          <p:cNvSpPr txBox="1"/>
          <p:nvPr>
            <p:ph idx="1" type="body"/>
          </p:nvPr>
        </p:nvSpPr>
        <p:spPr>
          <a:xfrm>
            <a:off x="246647" y="3072524"/>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27" name="Google Shape;227;p27"/>
          <p:cNvSpPr/>
          <p:nvPr>
            <p:ph idx="2" type="pic"/>
          </p:nvPr>
        </p:nvSpPr>
        <p:spPr>
          <a:xfrm>
            <a:off x="256673" y="1625136"/>
            <a:ext cx="1280700" cy="1447500"/>
          </a:xfrm>
          <a:prstGeom prst="rect">
            <a:avLst/>
          </a:prstGeom>
          <a:noFill/>
          <a:ln>
            <a:noFill/>
          </a:ln>
        </p:spPr>
      </p:sp>
      <p:sp>
        <p:nvSpPr>
          <p:cNvPr id="228" name="Google Shape;228;p27"/>
          <p:cNvSpPr txBox="1"/>
          <p:nvPr>
            <p:ph idx="3" type="body"/>
          </p:nvPr>
        </p:nvSpPr>
        <p:spPr>
          <a:xfrm>
            <a:off x="1705945" y="3074238"/>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29" name="Google Shape;229;p27"/>
          <p:cNvSpPr/>
          <p:nvPr>
            <p:ph idx="4" type="pic"/>
          </p:nvPr>
        </p:nvSpPr>
        <p:spPr>
          <a:xfrm>
            <a:off x="1715971" y="1626850"/>
            <a:ext cx="1280700" cy="1447500"/>
          </a:xfrm>
          <a:prstGeom prst="rect">
            <a:avLst/>
          </a:prstGeom>
          <a:noFill/>
          <a:ln>
            <a:noFill/>
          </a:ln>
        </p:spPr>
      </p:sp>
      <p:sp>
        <p:nvSpPr>
          <p:cNvPr id="230" name="Google Shape;230;p27"/>
          <p:cNvSpPr txBox="1"/>
          <p:nvPr>
            <p:ph idx="5" type="body"/>
          </p:nvPr>
        </p:nvSpPr>
        <p:spPr>
          <a:xfrm>
            <a:off x="3165243" y="3076912"/>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31" name="Google Shape;231;p27"/>
          <p:cNvSpPr/>
          <p:nvPr>
            <p:ph idx="6" type="pic"/>
          </p:nvPr>
        </p:nvSpPr>
        <p:spPr>
          <a:xfrm>
            <a:off x="3175269" y="1629523"/>
            <a:ext cx="1280700" cy="1447500"/>
          </a:xfrm>
          <a:prstGeom prst="rect">
            <a:avLst/>
          </a:prstGeom>
          <a:noFill/>
          <a:ln>
            <a:noFill/>
          </a:ln>
        </p:spPr>
      </p:sp>
      <p:sp>
        <p:nvSpPr>
          <p:cNvPr id="232" name="Google Shape;232;p27"/>
          <p:cNvSpPr txBox="1"/>
          <p:nvPr>
            <p:ph idx="7" type="body"/>
          </p:nvPr>
        </p:nvSpPr>
        <p:spPr>
          <a:xfrm>
            <a:off x="4624541" y="3070810"/>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33" name="Google Shape;233;p27"/>
          <p:cNvSpPr/>
          <p:nvPr>
            <p:ph idx="8" type="pic"/>
          </p:nvPr>
        </p:nvSpPr>
        <p:spPr>
          <a:xfrm>
            <a:off x="4634567" y="1623421"/>
            <a:ext cx="1280700" cy="1447500"/>
          </a:xfrm>
          <a:prstGeom prst="rect">
            <a:avLst/>
          </a:prstGeom>
          <a:noFill/>
          <a:ln>
            <a:noFill/>
          </a:ln>
        </p:spPr>
      </p:sp>
      <p:sp>
        <p:nvSpPr>
          <p:cNvPr id="234" name="Google Shape;234;p27"/>
          <p:cNvSpPr txBox="1"/>
          <p:nvPr>
            <p:ph idx="9" type="body"/>
          </p:nvPr>
        </p:nvSpPr>
        <p:spPr>
          <a:xfrm>
            <a:off x="6083839" y="3072524"/>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35" name="Google Shape;235;p27"/>
          <p:cNvSpPr/>
          <p:nvPr>
            <p:ph idx="13" type="pic"/>
          </p:nvPr>
        </p:nvSpPr>
        <p:spPr>
          <a:xfrm>
            <a:off x="6093865" y="1625136"/>
            <a:ext cx="1280700" cy="1447500"/>
          </a:xfrm>
          <a:prstGeom prst="rect">
            <a:avLst/>
          </a:prstGeom>
          <a:noFill/>
          <a:ln>
            <a:noFill/>
          </a:ln>
        </p:spPr>
      </p:sp>
      <p:sp>
        <p:nvSpPr>
          <p:cNvPr id="236" name="Google Shape;236;p27"/>
          <p:cNvSpPr txBox="1"/>
          <p:nvPr>
            <p:ph idx="14" type="body"/>
          </p:nvPr>
        </p:nvSpPr>
        <p:spPr>
          <a:xfrm>
            <a:off x="7543136" y="3075198"/>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37" name="Google Shape;237;p27"/>
          <p:cNvSpPr/>
          <p:nvPr>
            <p:ph idx="15" type="pic"/>
          </p:nvPr>
        </p:nvSpPr>
        <p:spPr>
          <a:xfrm>
            <a:off x="7553163" y="1627810"/>
            <a:ext cx="1280700" cy="1447500"/>
          </a:xfrm>
          <a:prstGeom prst="rect">
            <a:avLst/>
          </a:prstGeom>
          <a:noFill/>
          <a:ln>
            <a:noFill/>
          </a:ln>
        </p:spPr>
      </p:sp>
      <p:sp>
        <p:nvSpPr>
          <p:cNvPr id="238" name="Google Shape;238;p27"/>
          <p:cNvSpPr txBox="1"/>
          <p:nvPr>
            <p:ph idx="16" type="body"/>
          </p:nvPr>
        </p:nvSpPr>
        <p:spPr>
          <a:xfrm>
            <a:off x="227931" y="5541306"/>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39" name="Google Shape;239;p27"/>
          <p:cNvSpPr/>
          <p:nvPr>
            <p:ph idx="17" type="pic"/>
          </p:nvPr>
        </p:nvSpPr>
        <p:spPr>
          <a:xfrm>
            <a:off x="237957" y="4093918"/>
            <a:ext cx="1280700" cy="1447500"/>
          </a:xfrm>
          <a:prstGeom prst="rect">
            <a:avLst/>
          </a:prstGeom>
          <a:noFill/>
          <a:ln>
            <a:noFill/>
          </a:ln>
        </p:spPr>
      </p:sp>
      <p:sp>
        <p:nvSpPr>
          <p:cNvPr id="240" name="Google Shape;240;p27"/>
          <p:cNvSpPr txBox="1"/>
          <p:nvPr>
            <p:ph idx="18" type="body"/>
          </p:nvPr>
        </p:nvSpPr>
        <p:spPr>
          <a:xfrm>
            <a:off x="1687229" y="5543020"/>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41" name="Google Shape;241;p27"/>
          <p:cNvSpPr/>
          <p:nvPr>
            <p:ph idx="19" type="pic"/>
          </p:nvPr>
        </p:nvSpPr>
        <p:spPr>
          <a:xfrm>
            <a:off x="1697255" y="4095631"/>
            <a:ext cx="1280700" cy="1447500"/>
          </a:xfrm>
          <a:prstGeom prst="rect">
            <a:avLst/>
          </a:prstGeom>
          <a:noFill/>
          <a:ln>
            <a:noFill/>
          </a:ln>
        </p:spPr>
      </p:sp>
      <p:sp>
        <p:nvSpPr>
          <p:cNvPr id="242" name="Google Shape;242;p27"/>
          <p:cNvSpPr txBox="1"/>
          <p:nvPr>
            <p:ph idx="20" type="body"/>
          </p:nvPr>
        </p:nvSpPr>
        <p:spPr>
          <a:xfrm>
            <a:off x="3146527" y="5545694"/>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43" name="Google Shape;243;p27"/>
          <p:cNvSpPr/>
          <p:nvPr>
            <p:ph idx="21" type="pic"/>
          </p:nvPr>
        </p:nvSpPr>
        <p:spPr>
          <a:xfrm>
            <a:off x="3156553" y="4098306"/>
            <a:ext cx="1280700" cy="1447500"/>
          </a:xfrm>
          <a:prstGeom prst="rect">
            <a:avLst/>
          </a:prstGeom>
          <a:noFill/>
          <a:ln>
            <a:noFill/>
          </a:ln>
        </p:spPr>
      </p:sp>
      <p:sp>
        <p:nvSpPr>
          <p:cNvPr id="244" name="Google Shape;244;p27"/>
          <p:cNvSpPr txBox="1"/>
          <p:nvPr>
            <p:ph idx="22" type="body"/>
          </p:nvPr>
        </p:nvSpPr>
        <p:spPr>
          <a:xfrm>
            <a:off x="4605825" y="5539592"/>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45" name="Google Shape;245;p27"/>
          <p:cNvSpPr/>
          <p:nvPr>
            <p:ph idx="23" type="pic"/>
          </p:nvPr>
        </p:nvSpPr>
        <p:spPr>
          <a:xfrm>
            <a:off x="4615851" y="4092204"/>
            <a:ext cx="1280700" cy="1447500"/>
          </a:xfrm>
          <a:prstGeom prst="rect">
            <a:avLst/>
          </a:prstGeom>
          <a:noFill/>
          <a:ln>
            <a:noFill/>
          </a:ln>
        </p:spPr>
      </p:sp>
      <p:sp>
        <p:nvSpPr>
          <p:cNvPr id="246" name="Google Shape;246;p27"/>
          <p:cNvSpPr txBox="1"/>
          <p:nvPr>
            <p:ph idx="24" type="body"/>
          </p:nvPr>
        </p:nvSpPr>
        <p:spPr>
          <a:xfrm>
            <a:off x="6065123" y="5541306"/>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47" name="Google Shape;247;p27"/>
          <p:cNvSpPr/>
          <p:nvPr>
            <p:ph idx="25" type="pic"/>
          </p:nvPr>
        </p:nvSpPr>
        <p:spPr>
          <a:xfrm>
            <a:off x="6075149" y="4093918"/>
            <a:ext cx="1280700" cy="1447500"/>
          </a:xfrm>
          <a:prstGeom prst="rect">
            <a:avLst/>
          </a:prstGeom>
          <a:noFill/>
          <a:ln>
            <a:noFill/>
          </a:ln>
        </p:spPr>
      </p:sp>
      <p:sp>
        <p:nvSpPr>
          <p:cNvPr id="248" name="Google Shape;248;p27"/>
          <p:cNvSpPr txBox="1"/>
          <p:nvPr>
            <p:ph idx="26" type="body"/>
          </p:nvPr>
        </p:nvSpPr>
        <p:spPr>
          <a:xfrm>
            <a:off x="7524420" y="5543980"/>
            <a:ext cx="1290600" cy="494100"/>
          </a:xfrm>
          <a:prstGeom prst="rect">
            <a:avLst/>
          </a:prstGeom>
          <a:noFill/>
          <a:ln>
            <a:noFill/>
          </a:ln>
        </p:spPr>
        <p:txBody>
          <a:bodyPr anchorCtr="0" anchor="t" bIns="45700" lIns="91425" spcFirstLastPara="1" rIns="91425" wrap="square" tIns="45700">
            <a:noAutofit/>
          </a:bodyPr>
          <a:lstStyle>
            <a:lvl1pPr indent="-355600" lvl="0" marL="4572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indent="-355600" lvl="1" marL="9144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228600" lvl="3" marL="18288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4pPr>
            <a:lvl5pPr indent="-228600" lvl="4" marL="2286000" marR="0" algn="l">
              <a:spcBef>
                <a:spcPts val="400"/>
              </a:spcBef>
              <a:spcAft>
                <a:spcPts val="0"/>
              </a:spcAft>
              <a:buClr>
                <a:schemeClr val="dk1"/>
              </a:buClr>
              <a:buSzPts val="2000"/>
              <a:buFont typeface="Merriweather Sans"/>
              <a:buNone/>
              <a:defRPr b="0" i="0" sz="2000" u="none" cap="none" strike="noStrike">
                <a:solidFill>
                  <a:schemeClr val="dk1"/>
                </a:solidFill>
                <a:latin typeface="Helvetica Neue Light"/>
                <a:ea typeface="Helvetica Neue Light"/>
                <a:cs typeface="Helvetica Neue Light"/>
                <a:sym typeface="Helvetica Neue Light"/>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
        <p:nvSpPr>
          <p:cNvPr id="249" name="Google Shape;249;p27"/>
          <p:cNvSpPr/>
          <p:nvPr>
            <p:ph idx="27" type="pic"/>
          </p:nvPr>
        </p:nvSpPr>
        <p:spPr>
          <a:xfrm>
            <a:off x="7534447" y="4096591"/>
            <a:ext cx="1280700" cy="14475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50" name="Shape 250"/>
        <p:cNvGrpSpPr/>
        <p:nvPr/>
      </p:nvGrpSpPr>
      <p:grpSpPr>
        <a:xfrm>
          <a:off x="0" y="0"/>
          <a:ext cx="0" cy="0"/>
          <a:chOff x="0" y="0"/>
          <a:chExt cx="0" cy="0"/>
        </a:xfrm>
      </p:grpSpPr>
      <p:sp>
        <p:nvSpPr>
          <p:cNvPr id="251" name="Google Shape;251;p28"/>
          <p:cNvSpPr txBox="1"/>
          <p:nvPr>
            <p:ph type="title"/>
          </p:nvPr>
        </p:nvSpPr>
        <p:spPr>
          <a:xfrm>
            <a:off x="457200" y="904494"/>
            <a:ext cx="8229600" cy="521400"/>
          </a:xfrm>
          <a:prstGeom prst="rect">
            <a:avLst/>
          </a:prstGeom>
          <a:noFill/>
          <a:ln>
            <a:noFill/>
          </a:ln>
        </p:spPr>
        <p:txBody>
          <a:bodyPr anchorCtr="0" anchor="t" bIns="45700" lIns="91425" spcFirstLastPara="1" rIns="91425" wrap="square" tIns="45700">
            <a:normAutofit/>
          </a:bodyPr>
          <a:lstStyle>
            <a:lvl1pPr lvl="0" marR="0" algn="l">
              <a:spcBef>
                <a:spcPts val="0"/>
              </a:spcBef>
              <a:spcAft>
                <a:spcPts val="0"/>
              </a:spcAft>
              <a:buClr>
                <a:srgbClr val="990000"/>
              </a:buClr>
              <a:buSzPts val="2400"/>
              <a:buFont typeface="Helvetica Neue"/>
              <a:buNone/>
              <a:defRPr b="1" i="0" sz="2400" u="none" cap="none" strike="noStrike">
                <a:solidFill>
                  <a:srgbClr val="99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2" name="Google Shape;252;p28"/>
          <p:cNvSpPr/>
          <p:nvPr/>
        </p:nvSpPr>
        <p:spPr>
          <a:xfrm>
            <a:off x="125733" y="163473"/>
            <a:ext cx="8864100" cy="65580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3" name="Google Shape;253;p28"/>
          <p:cNvSpPr/>
          <p:nvPr/>
        </p:nvSpPr>
        <p:spPr>
          <a:xfrm>
            <a:off x="125733" y="163474"/>
            <a:ext cx="8864100" cy="634800"/>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4" name="Google Shape;254;p28"/>
          <p:cNvSpPr/>
          <p:nvPr/>
        </p:nvSpPr>
        <p:spPr>
          <a:xfrm>
            <a:off x="8381074" y="163474"/>
            <a:ext cx="609000" cy="634800"/>
          </a:xfrm>
          <a:prstGeom prst="rect">
            <a:avLst/>
          </a:prstGeom>
          <a:solidFill>
            <a:schemeClr val="lt2"/>
          </a:solidFill>
          <a:ln cap="flat" cmpd="sng" w="12700">
            <a:solidFill>
              <a:srgbClr val="99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pic>
        <p:nvPicPr>
          <p:cNvPr descr="Small Use Shield_WhiteOnTrans.eps" id="255" name="Google Shape;255;p28"/>
          <p:cNvPicPr preferRelativeResize="0"/>
          <p:nvPr/>
        </p:nvPicPr>
        <p:blipFill rotWithShape="1">
          <a:blip r:embed="rId2">
            <a:alphaModFix/>
          </a:blip>
          <a:srcRect b="0" l="0" r="0" t="0"/>
          <a:stretch/>
        </p:blipFill>
        <p:spPr>
          <a:xfrm>
            <a:off x="8492619" y="231585"/>
            <a:ext cx="385813" cy="498589"/>
          </a:xfrm>
          <a:prstGeom prst="rect">
            <a:avLst/>
          </a:prstGeom>
          <a:noFill/>
          <a:ln>
            <a:noFill/>
          </a:ln>
        </p:spPr>
      </p:pic>
      <p:pic>
        <p:nvPicPr>
          <p:cNvPr descr="Formal_Viterbi_CardOnTrans.eps" id="256" name="Google Shape;256;p28"/>
          <p:cNvPicPr preferRelativeResize="0"/>
          <p:nvPr/>
        </p:nvPicPr>
        <p:blipFill rotWithShape="1">
          <a:blip r:embed="rId3">
            <a:alphaModFix/>
          </a:blip>
          <a:srcRect b="0" l="0" r="0" t="0"/>
          <a:stretch/>
        </p:blipFill>
        <p:spPr>
          <a:xfrm>
            <a:off x="2" y="91985"/>
            <a:ext cx="2222498" cy="777876"/>
          </a:xfrm>
          <a:prstGeom prst="rect">
            <a:avLst/>
          </a:prstGeom>
          <a:noFill/>
          <a:ln>
            <a:noFill/>
          </a:ln>
        </p:spPr>
      </p:pic>
      <p:sp>
        <p:nvSpPr>
          <p:cNvPr id="257" name="Google Shape;257;p28"/>
          <p:cNvSpPr/>
          <p:nvPr>
            <p:ph idx="2" type="chart"/>
          </p:nvPr>
        </p:nvSpPr>
        <p:spPr>
          <a:xfrm>
            <a:off x="457200" y="1581150"/>
            <a:ext cx="8229600" cy="4873500"/>
          </a:xfrm>
          <a:prstGeom prst="rect">
            <a:avLst/>
          </a:prstGeom>
          <a:noFill/>
          <a:ln>
            <a:noFill/>
          </a:ln>
        </p:spPr>
        <p:txBody>
          <a:bodyPr anchorCtr="0" anchor="t" bIns="45700" lIns="91425" spcFirstLastPara="1" rIns="91425" wrap="square" tIns="45700">
            <a:noAutofit/>
          </a:bodyPr>
          <a:lstStyle>
            <a:lvl1pPr lvl="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1pPr>
            <a:lvl2pPr lvl="1"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2pPr>
            <a:lvl3pPr lvl="2"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lvl="3"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4pPr>
            <a:lvl5pPr lvl="4"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5pPr>
            <a:lvl6pPr lvl="5"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6pPr>
            <a:lvl7pPr lvl="6"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7pPr>
            <a:lvl8pPr lvl="7"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8pPr>
            <a:lvl9pPr lvl="8" marR="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258" name="Shape 258"/>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9" name="Shape 259"/>
        <p:cNvGrpSpPr/>
        <p:nvPr/>
      </p:nvGrpSpPr>
      <p:grpSpPr>
        <a:xfrm>
          <a:off x="0" y="0"/>
          <a:ext cx="0" cy="0"/>
          <a:chOff x="0" y="0"/>
          <a:chExt cx="0" cy="0"/>
        </a:xfrm>
      </p:grpSpPr>
      <p:sp>
        <p:nvSpPr>
          <p:cNvPr id="260" name="Google Shape;260;p30"/>
          <p:cNvSpPr txBox="1"/>
          <p:nvPr>
            <p:ph type="title"/>
          </p:nvPr>
        </p:nvSpPr>
        <p:spPr>
          <a:xfrm>
            <a:off x="2286000" y="304800"/>
            <a:ext cx="6248400" cy="9906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Clr>
                <a:schemeClr val="dk1"/>
              </a:buClr>
              <a:buSzPts val="2800"/>
              <a:buFont typeface="Helvetica Neue"/>
              <a:buNone/>
              <a:defRPr b="1" i="0" sz="2800" u="none" cap="none" strike="noStrik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1" name="Google Shape;261;p30"/>
          <p:cNvSpPr txBox="1"/>
          <p:nvPr>
            <p:ph idx="1" type="body"/>
          </p:nvPr>
        </p:nvSpPr>
        <p:spPr>
          <a:xfrm>
            <a:off x="2286000" y="1981200"/>
            <a:ext cx="3048000" cy="4114800"/>
          </a:xfrm>
          <a:prstGeom prst="rect">
            <a:avLst/>
          </a:prstGeom>
          <a:noFill/>
          <a:ln>
            <a:noFill/>
          </a:ln>
        </p:spPr>
        <p:txBody>
          <a:bodyPr anchorCtr="0" anchor="t" bIns="45700" lIns="91425" spcFirstLastPara="1" rIns="91425" wrap="square" tIns="45700">
            <a:noAutofit/>
          </a:bodyPr>
          <a:lstStyle>
            <a:lvl1pPr indent="-406400" lvl="0" marL="457200" marR="0" algn="l">
              <a:spcBef>
                <a:spcPts val="560"/>
              </a:spcBef>
              <a:spcAft>
                <a:spcPts val="0"/>
              </a:spcAft>
              <a:buClr>
                <a:schemeClr val="dk1"/>
              </a:buClr>
              <a:buSzPts val="2800"/>
              <a:buFont typeface="Merriweather Sans"/>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algn="l">
              <a:spcBef>
                <a:spcPts val="480"/>
              </a:spcBef>
              <a:spcAft>
                <a:spcPts val="0"/>
              </a:spcAft>
              <a:buClr>
                <a:schemeClr val="dk1"/>
              </a:buClr>
              <a:buSzPts val="2400"/>
              <a:buFont typeface="Merriweather Sans"/>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6pPr>
            <a:lvl7pPr indent="-342900" lvl="6" marL="32004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7pPr>
            <a:lvl8pPr indent="-342900" lvl="7" marL="36576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8pPr>
            <a:lvl9pPr indent="-342900" lvl="8" marL="41148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9pPr>
          </a:lstStyle>
          <a:p/>
        </p:txBody>
      </p:sp>
      <p:sp>
        <p:nvSpPr>
          <p:cNvPr id="262" name="Google Shape;262;p30"/>
          <p:cNvSpPr txBox="1"/>
          <p:nvPr>
            <p:ph idx="2" type="body"/>
          </p:nvPr>
        </p:nvSpPr>
        <p:spPr>
          <a:xfrm>
            <a:off x="5486400" y="1981200"/>
            <a:ext cx="3048000" cy="4114800"/>
          </a:xfrm>
          <a:prstGeom prst="rect">
            <a:avLst/>
          </a:prstGeom>
          <a:noFill/>
          <a:ln>
            <a:noFill/>
          </a:ln>
        </p:spPr>
        <p:txBody>
          <a:bodyPr anchorCtr="0" anchor="t" bIns="45700" lIns="91425" spcFirstLastPara="1" rIns="91425" wrap="square" tIns="45700">
            <a:noAutofit/>
          </a:bodyPr>
          <a:lstStyle>
            <a:lvl1pPr indent="-406400" lvl="0" marL="457200" marR="0" algn="l">
              <a:spcBef>
                <a:spcPts val="560"/>
              </a:spcBef>
              <a:spcAft>
                <a:spcPts val="0"/>
              </a:spcAft>
              <a:buClr>
                <a:schemeClr val="dk1"/>
              </a:buClr>
              <a:buSzPts val="2800"/>
              <a:buFont typeface="Merriweather Sans"/>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algn="l">
              <a:spcBef>
                <a:spcPts val="480"/>
              </a:spcBef>
              <a:spcAft>
                <a:spcPts val="0"/>
              </a:spcAft>
              <a:buClr>
                <a:schemeClr val="dk1"/>
              </a:buClr>
              <a:buSzPts val="2400"/>
              <a:buFont typeface="Merriweather Sans"/>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algn="l">
              <a:spcBef>
                <a:spcPts val="400"/>
              </a:spcBef>
              <a:spcAft>
                <a:spcPts val="0"/>
              </a:spcAft>
              <a:buClr>
                <a:schemeClr val="dk1"/>
              </a:buClr>
              <a:buSzPts val="2000"/>
              <a:buFont typeface="Merriweather Sans"/>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algn="l">
              <a:spcBef>
                <a:spcPts val="360"/>
              </a:spcBef>
              <a:spcAft>
                <a:spcPts val="0"/>
              </a:spcAft>
              <a:buClr>
                <a:schemeClr val="dk1"/>
              </a:buClr>
              <a:buSzPts val="1800"/>
              <a:buFont typeface="Merriweather Sans"/>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6pPr>
            <a:lvl7pPr indent="-342900" lvl="6" marL="32004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7pPr>
            <a:lvl8pPr indent="-342900" lvl="7" marL="36576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8pPr>
            <a:lvl9pPr indent="-342900" lvl="8" marL="4114800" marR="0" algn="l">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3.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8146473" y="6370366"/>
            <a:ext cx="9144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Gill Sans"/>
                <a:ea typeface="Gill Sans"/>
                <a:cs typeface="Gill Sans"/>
                <a:sym typeface="Gill Sans"/>
              </a:rPr>
              <a:t>Slide </a:t>
            </a:r>
            <a:fld id="{00000000-1234-1234-1234-123412341234}" type="slidenum">
              <a:rPr b="0" i="0" lang="en-US" sz="1200" u="none" cap="none" strike="noStrike">
                <a:solidFill>
                  <a:schemeClr val="dk1"/>
                </a:solidFill>
                <a:latin typeface="Gill Sans"/>
                <a:ea typeface="Gill Sans"/>
                <a:cs typeface="Gill Sans"/>
                <a:sym typeface="Gill Sans"/>
              </a:rPr>
              <a:t>‹#›</a:t>
            </a:fld>
            <a:endParaRPr sz="1200">
              <a:solidFill>
                <a:schemeClr val="dk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16"/>
          <p:cNvSpPr txBox="1"/>
          <p:nvPr/>
        </p:nvSpPr>
        <p:spPr>
          <a:xfrm>
            <a:off x="8146473" y="6370366"/>
            <a:ext cx="914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Gill Sans"/>
                <a:ea typeface="Gill Sans"/>
                <a:cs typeface="Gill Sans"/>
                <a:sym typeface="Gill Sans"/>
              </a:rPr>
              <a:t>Slide </a:t>
            </a:r>
            <a:fld id="{00000000-1234-1234-1234-123412341234}" type="slidenum">
              <a:rPr b="0" i="0" lang="en-US" sz="1200" u="none" cap="none" strike="noStrike">
                <a:solidFill>
                  <a:schemeClr val="dk1"/>
                </a:solidFill>
                <a:latin typeface="Gill Sans"/>
                <a:ea typeface="Gill Sans"/>
                <a:cs typeface="Gill Sans"/>
                <a:sym typeface="Gill Sans"/>
              </a:rPr>
              <a:t>‹#›</a:t>
            </a:fld>
            <a:endParaRPr sz="1200">
              <a:solidFill>
                <a:schemeClr val="dk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hyperlink" Target="https://www.kaggle.com/datasets/vodclickstream/netflix-audience-behaviour-uk-movies" TargetMode="External"/><Relationship Id="rId6" Type="http://schemas.openxmlformats.org/officeDocument/2006/relationships/hyperlink" Target="https://doi.org/10.1145/963770.96377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kaggle.com/datasets/vodclickstream/netflix-audience-behaviour-uk-movies" TargetMode="External"/><Relationship Id="rId4" Type="http://schemas.openxmlformats.org/officeDocument/2006/relationships/hyperlink" Target="https://www.kaggle.com/datasets/rounakbanik/the-movies-dataset/data?select=movies_metadata.cs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1"/>
          <p:cNvSpPr txBox="1"/>
          <p:nvPr>
            <p:ph type="title"/>
          </p:nvPr>
        </p:nvSpPr>
        <p:spPr>
          <a:xfrm>
            <a:off x="130900" y="2327950"/>
            <a:ext cx="8844000" cy="18441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400"/>
              <a:buFont typeface="Helvetica Neue"/>
              <a:buNone/>
            </a:pPr>
            <a:r>
              <a:t/>
            </a:r>
            <a:endParaRPr sz="3000"/>
          </a:p>
          <a:p>
            <a:pPr indent="0" lvl="0" marL="0" rtl="0" algn="ctr">
              <a:lnSpc>
                <a:spcPct val="90000"/>
              </a:lnSpc>
              <a:spcBef>
                <a:spcPts val="0"/>
              </a:spcBef>
              <a:spcAft>
                <a:spcPts val="0"/>
              </a:spcAft>
              <a:buClr>
                <a:srgbClr val="FFFFFF"/>
              </a:buClr>
              <a:buSzPts val="3400"/>
              <a:buFont typeface="Helvetica Neue"/>
              <a:buNone/>
            </a:pPr>
            <a:r>
              <a:rPr lang="en-US" sz="3200"/>
              <a:t>Engagement Aware </a:t>
            </a:r>
            <a:r>
              <a:rPr lang="en-US" sz="3200"/>
              <a:t>Movie Recommendation</a:t>
            </a:r>
            <a:endParaRPr sz="3200"/>
          </a:p>
          <a:p>
            <a:pPr indent="0" lvl="0" marL="0" rtl="0" algn="ctr">
              <a:lnSpc>
                <a:spcPct val="90000"/>
              </a:lnSpc>
              <a:spcBef>
                <a:spcPts val="0"/>
              </a:spcBef>
              <a:spcAft>
                <a:spcPts val="0"/>
              </a:spcAft>
              <a:buClr>
                <a:schemeClr val="lt1"/>
              </a:buClr>
              <a:buSzPts val="3400"/>
              <a:buFont typeface="Helvetica Neue"/>
              <a:buNone/>
            </a:pPr>
            <a:r>
              <a:rPr lang="en-US" sz="1800">
                <a:solidFill>
                  <a:schemeClr val="lt1"/>
                </a:solidFill>
              </a:rPr>
              <a:t>Project Pre-Final Check-in </a:t>
            </a:r>
            <a:endParaRPr sz="1800"/>
          </a:p>
        </p:txBody>
      </p:sp>
      <p:sp>
        <p:nvSpPr>
          <p:cNvPr id="269" name="Google Shape;269;p31"/>
          <p:cNvSpPr txBox="1"/>
          <p:nvPr/>
        </p:nvSpPr>
        <p:spPr>
          <a:xfrm>
            <a:off x="491700" y="4764400"/>
            <a:ext cx="8160600" cy="1182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800">
                <a:solidFill>
                  <a:schemeClr val="lt1"/>
                </a:solidFill>
                <a:latin typeface="Helvetica Neue"/>
                <a:ea typeface="Helvetica Neue"/>
                <a:cs typeface="Helvetica Neue"/>
                <a:sym typeface="Helvetica Neue"/>
              </a:rPr>
              <a:t>Arnav Kamra, Illy Hoang, Rhea Pandita, and Sanjay Balasubramaniam</a:t>
            </a:r>
            <a:endParaRPr b="1" sz="1800">
              <a:solidFill>
                <a:schemeClr val="lt1"/>
              </a:solidFill>
              <a:latin typeface="Helvetica Neue"/>
              <a:ea typeface="Helvetica Neue"/>
              <a:cs typeface="Helvetica Neue"/>
              <a:sym typeface="Helvetica Neue"/>
            </a:endParaRPr>
          </a:p>
          <a:p>
            <a:pPr indent="0" lvl="0" marL="0" rtl="0" algn="ctr">
              <a:lnSpc>
                <a:spcPct val="90000"/>
              </a:lnSpc>
              <a:spcBef>
                <a:spcPts val="0"/>
              </a:spcBef>
              <a:spcAft>
                <a:spcPts val="0"/>
              </a:spcAft>
              <a:buNone/>
            </a:pPr>
            <a:r>
              <a:t/>
            </a:r>
            <a:endParaRPr b="1" sz="1800">
              <a:solidFill>
                <a:schemeClr val="lt1"/>
              </a:solidFill>
              <a:latin typeface="Helvetica Neue"/>
              <a:ea typeface="Helvetica Neue"/>
              <a:cs typeface="Helvetica Neue"/>
              <a:sym typeface="Helvetica Neue"/>
            </a:endParaRPr>
          </a:p>
          <a:p>
            <a:pPr indent="0" lvl="0" marL="0" rtl="0" algn="ctr">
              <a:lnSpc>
                <a:spcPct val="90000"/>
              </a:lnSpc>
              <a:spcBef>
                <a:spcPts val="0"/>
              </a:spcBef>
              <a:spcAft>
                <a:spcPts val="0"/>
              </a:spcAft>
              <a:buNone/>
            </a:pPr>
            <a:r>
              <a:t/>
            </a:r>
            <a:endParaRPr b="1" sz="1800">
              <a:solidFill>
                <a:schemeClr val="lt1"/>
              </a:solidFill>
              <a:latin typeface="Helvetica Neue"/>
              <a:ea typeface="Helvetica Neue"/>
              <a:cs typeface="Helvetica Neue"/>
              <a:sym typeface="Helvetica Neue"/>
            </a:endParaRPr>
          </a:p>
          <a:p>
            <a:pPr indent="0" lvl="0" marL="0" rtl="0" algn="ctr">
              <a:lnSpc>
                <a:spcPct val="90000"/>
              </a:lnSpc>
              <a:spcBef>
                <a:spcPts val="0"/>
              </a:spcBef>
              <a:spcAft>
                <a:spcPts val="0"/>
              </a:spcAft>
              <a:buNone/>
            </a:pPr>
            <a:r>
              <a:t/>
            </a:r>
            <a:endParaRPr b="1" sz="1800">
              <a:solidFill>
                <a:schemeClr val="lt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nvSpPr>
        <p:spPr>
          <a:xfrm>
            <a:off x="326575" y="1015225"/>
            <a:ext cx="8462400" cy="535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300">
                <a:latin typeface="Helvetica Neue"/>
                <a:ea typeface="Helvetica Neue"/>
                <a:cs typeface="Helvetica Neue"/>
                <a:sym typeface="Helvetica Neue"/>
              </a:rPr>
              <a:t>Learning Content and Behavioral Embeddings for Engagement-Aware Sequential Movie Recommendation</a:t>
            </a:r>
            <a:endParaRPr b="1" sz="2300">
              <a:latin typeface="Helvetica Neue"/>
              <a:ea typeface="Helvetica Neue"/>
              <a:cs typeface="Helvetica Neue"/>
              <a:sym typeface="Helvetica Neue"/>
            </a:endParaRPr>
          </a:p>
          <a:p>
            <a:pPr indent="0" lvl="0" marL="0" rtl="0" algn="l">
              <a:spcBef>
                <a:spcPts val="0"/>
              </a:spcBef>
              <a:spcAft>
                <a:spcPts val="0"/>
              </a:spcAft>
              <a:buNone/>
            </a:pPr>
            <a:r>
              <a:t/>
            </a:r>
            <a:endParaRPr>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Char char="●"/>
            </a:pPr>
            <a:r>
              <a:rPr lang="en-US" sz="1600">
                <a:latin typeface="Helvetica Neue"/>
                <a:ea typeface="Helvetica Neue"/>
                <a:cs typeface="Helvetica Neue"/>
                <a:sym typeface="Helvetica Neue"/>
              </a:rPr>
              <a:t>Streaming platforms rely heavily on recommendation systems </a:t>
            </a:r>
            <a:r>
              <a:rPr b="1" lang="en-US" sz="1600">
                <a:latin typeface="Helvetica Neue"/>
                <a:ea typeface="Helvetica Neue"/>
                <a:cs typeface="Helvetica Neue"/>
                <a:sym typeface="Helvetica Neue"/>
              </a:rPr>
              <a:t>to drive engagement</a:t>
            </a:r>
            <a:endParaRPr b="1" sz="1600">
              <a:latin typeface="Helvetica Neue"/>
              <a:ea typeface="Helvetica Neue"/>
              <a:cs typeface="Helvetica Neue"/>
              <a:sym typeface="Helvetica Neue"/>
            </a:endParaRPr>
          </a:p>
          <a:p>
            <a:pPr indent="-355600" lvl="1" marL="914400" rtl="0" algn="l">
              <a:spcBef>
                <a:spcPts val="0"/>
              </a:spcBef>
              <a:spcAft>
                <a:spcPts val="0"/>
              </a:spcAft>
              <a:buSzPts val="2000"/>
              <a:buFont typeface="Helvetica Neue"/>
              <a:buChar char="○"/>
            </a:pPr>
            <a:r>
              <a:rPr b="1" lang="en-US" sz="1600">
                <a:latin typeface="Helvetica Neue"/>
                <a:ea typeface="Helvetica Neue"/>
                <a:cs typeface="Helvetica Neue"/>
                <a:sym typeface="Helvetica Neue"/>
              </a:rPr>
              <a:t>Goal</a:t>
            </a:r>
            <a:r>
              <a:rPr lang="en-US" sz="1600">
                <a:latin typeface="Helvetica Neue"/>
                <a:ea typeface="Helvetica Neue"/>
                <a:cs typeface="Helvetica Neue"/>
                <a:sym typeface="Helvetica Neue"/>
              </a:rPr>
              <a:t>: improve quality + relevance + engagement of recommendations</a:t>
            </a:r>
            <a:endParaRPr sz="16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Char char="●"/>
            </a:pPr>
            <a:r>
              <a:rPr b="1" lang="en-US" sz="1600">
                <a:latin typeface="Helvetica Neue"/>
                <a:ea typeface="Helvetica Neue"/>
                <a:cs typeface="Helvetica Neue"/>
                <a:sym typeface="Helvetica Neue"/>
              </a:rPr>
              <a:t>Core Question</a:t>
            </a:r>
            <a:r>
              <a:rPr lang="en-US" sz="1600">
                <a:latin typeface="Helvetica Neue"/>
                <a:ea typeface="Helvetica Neue"/>
                <a:cs typeface="Helvetica Neue"/>
                <a:sym typeface="Helvetica Neue"/>
              </a:rPr>
              <a:t>: Can we leverage content similarity, user engagement patterns, and contextual embeddings to improve sequential movie recommendations and maximize sustained interaction?</a:t>
            </a:r>
            <a:endParaRPr sz="1600">
              <a:latin typeface="Helvetica Neue"/>
              <a:ea typeface="Helvetica Neue"/>
              <a:cs typeface="Helvetica Neue"/>
              <a:sym typeface="Helvetica Neue"/>
            </a:endParaRPr>
          </a:p>
          <a:p>
            <a:pPr indent="-330200" lvl="0" marL="457200" rtl="0" algn="l">
              <a:spcBef>
                <a:spcPts val="0"/>
              </a:spcBef>
              <a:spcAft>
                <a:spcPts val="0"/>
              </a:spcAft>
              <a:buSzPts val="1600"/>
              <a:buFont typeface="Helvetica Neue"/>
              <a:buChar char="●"/>
            </a:pPr>
            <a:r>
              <a:rPr b="1" lang="en-US" sz="1600">
                <a:latin typeface="Helvetica Neue"/>
                <a:ea typeface="Helvetica Neue"/>
                <a:cs typeface="Helvetica Neue"/>
                <a:sym typeface="Helvetica Neue"/>
              </a:rPr>
              <a:t>Datasets</a:t>
            </a:r>
            <a:r>
              <a:rPr lang="en-US"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a:p>
            <a:pPr indent="-330200" lvl="1" marL="9144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Netflix UK Movies Clickstream Dataset (Kaggle)</a:t>
            </a:r>
            <a:endParaRPr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Includes </a:t>
            </a:r>
            <a:r>
              <a:rPr b="1" lang="en-US" sz="1600">
                <a:latin typeface="Helvetica Neue"/>
                <a:ea typeface="Helvetica Neue"/>
                <a:cs typeface="Helvetica Neue"/>
                <a:sym typeface="Helvetica Neue"/>
              </a:rPr>
              <a:t>User interactions</a:t>
            </a:r>
            <a:r>
              <a:rPr lang="en-US" sz="1600">
                <a:latin typeface="Helvetica Neue"/>
                <a:ea typeface="Helvetica Neue"/>
                <a:cs typeface="Helvetica Neue"/>
                <a:sym typeface="Helvetica Neue"/>
              </a:rPr>
              <a:t> (click/view sequences), </a:t>
            </a:r>
            <a:r>
              <a:rPr b="1" lang="en-US" sz="1600">
                <a:latin typeface="Helvetica Neue"/>
                <a:ea typeface="Helvetica Neue"/>
                <a:cs typeface="Helvetica Neue"/>
                <a:sym typeface="Helvetica Neue"/>
              </a:rPr>
              <a:t>Timestamps</a:t>
            </a:r>
            <a:r>
              <a:rPr lang="en-US" sz="1600">
                <a:latin typeface="Helvetica Neue"/>
                <a:ea typeface="Helvetica Neue"/>
                <a:cs typeface="Helvetica Neue"/>
                <a:sym typeface="Helvetica Neue"/>
              </a:rPr>
              <a:t>, </a:t>
            </a:r>
            <a:r>
              <a:rPr b="1" lang="en-US" sz="1600">
                <a:latin typeface="Helvetica Neue"/>
                <a:ea typeface="Helvetica Neue"/>
                <a:cs typeface="Helvetica Neue"/>
                <a:sym typeface="Helvetica Neue"/>
              </a:rPr>
              <a:t>Movie IDs</a:t>
            </a:r>
            <a:endParaRPr b="1"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b="1" lang="en-US" sz="1600">
                <a:latin typeface="Helvetica Neue"/>
                <a:ea typeface="Helvetica Neue"/>
                <a:cs typeface="Helvetica Neue"/>
                <a:sym typeface="Helvetica Neue"/>
              </a:rPr>
              <a:t>Implicit feedback</a:t>
            </a:r>
            <a:r>
              <a:rPr lang="en-US" sz="1600">
                <a:latin typeface="Helvetica Neue"/>
                <a:ea typeface="Helvetica Neue"/>
                <a:cs typeface="Helvetica Neue"/>
                <a:sym typeface="Helvetica Neue"/>
              </a:rPr>
              <a:t> from using clicks instead of ratings</a:t>
            </a:r>
            <a:endParaRPr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b="1" lang="en-US" sz="1600">
                <a:latin typeface="Helvetica Neue"/>
                <a:ea typeface="Helvetica Neue"/>
                <a:cs typeface="Helvetica Neue"/>
                <a:sym typeface="Helvetica Neue"/>
              </a:rPr>
              <a:t>Sparse interactions</a:t>
            </a:r>
            <a:r>
              <a:rPr lang="en-US" sz="1600">
                <a:latin typeface="Helvetica Neue"/>
                <a:ea typeface="Helvetica Neue"/>
                <a:cs typeface="Helvetica Neue"/>
                <a:sym typeface="Helvetica Neue"/>
              </a:rPr>
              <a:t> emulate realistic recommender setting</a:t>
            </a:r>
            <a:endParaRPr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Captures </a:t>
            </a:r>
            <a:r>
              <a:rPr b="1" lang="en-US" sz="1600">
                <a:latin typeface="Helvetica Neue"/>
                <a:ea typeface="Helvetica Neue"/>
                <a:cs typeface="Helvetica Neue"/>
                <a:sym typeface="Helvetica Neue"/>
              </a:rPr>
              <a:t>real user behavior</a:t>
            </a:r>
            <a:r>
              <a:rPr lang="en-US" sz="1600">
                <a:latin typeface="Helvetica Neue"/>
                <a:ea typeface="Helvetica Neue"/>
                <a:cs typeface="Helvetica Neue"/>
                <a:sym typeface="Helvetica Neue"/>
              </a:rPr>
              <a:t> over time</a:t>
            </a:r>
            <a:endParaRPr sz="1600">
              <a:latin typeface="Helvetica Neue"/>
              <a:ea typeface="Helvetica Neue"/>
              <a:cs typeface="Helvetica Neue"/>
              <a:sym typeface="Helvetica Neue"/>
            </a:endParaRPr>
          </a:p>
          <a:p>
            <a:pPr indent="-330200" lvl="1" marL="9144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User reviews + Movie metadata also used to enrich</a:t>
            </a:r>
            <a:endParaRPr sz="1600">
              <a:latin typeface="Helvetica Neue"/>
              <a:ea typeface="Helvetica Neue"/>
              <a:cs typeface="Helvetica Neue"/>
              <a:sym typeface="Helvetica Neue"/>
            </a:endParaRPr>
          </a:p>
          <a:p>
            <a:pPr indent="0" lvl="0" marL="0" rtl="0" algn="l">
              <a:spcBef>
                <a:spcPts val="0"/>
              </a:spcBef>
              <a:spcAft>
                <a:spcPts val="0"/>
              </a:spcAft>
              <a:buNone/>
            </a:pPr>
            <a:r>
              <a:t/>
            </a:r>
            <a:endParaRPr sz="1600">
              <a:latin typeface="Helvetica Neue"/>
              <a:ea typeface="Helvetica Neue"/>
              <a:cs typeface="Helvetica Neue"/>
              <a:sym typeface="Helvetica Neue"/>
            </a:endParaRPr>
          </a:p>
          <a:p>
            <a:pPr indent="-330200" lvl="0" marL="457200" rtl="0" algn="l">
              <a:spcBef>
                <a:spcPts val="0"/>
              </a:spcBef>
              <a:spcAft>
                <a:spcPts val="0"/>
              </a:spcAft>
              <a:buSzPts val="1600"/>
              <a:buFont typeface="Helvetica Neue"/>
              <a:buChar char="●"/>
            </a:pPr>
            <a:r>
              <a:rPr b="1" lang="en-US" sz="1600">
                <a:latin typeface="Helvetica Neue"/>
                <a:ea typeface="Helvetica Neue"/>
                <a:cs typeface="Helvetica Neue"/>
                <a:sym typeface="Helvetica Neue"/>
              </a:rPr>
              <a:t>Objectives</a:t>
            </a:r>
            <a:r>
              <a:rPr lang="en-US" sz="1600">
                <a:latin typeface="Helvetica Neue"/>
                <a:ea typeface="Helvetica Neue"/>
                <a:cs typeface="Helvetica Neue"/>
                <a:sym typeface="Helvetica Neue"/>
              </a:rPr>
              <a:t>:</a:t>
            </a:r>
            <a:endParaRPr sz="1600">
              <a:latin typeface="Helvetica Neue"/>
              <a:ea typeface="Helvetica Neue"/>
              <a:cs typeface="Helvetica Neue"/>
              <a:sym typeface="Helvetica Neue"/>
            </a:endParaRPr>
          </a:p>
          <a:p>
            <a:pPr indent="-330200" lvl="1" marL="914400" rtl="0" algn="l">
              <a:spcBef>
                <a:spcPts val="0"/>
              </a:spcBef>
              <a:spcAft>
                <a:spcPts val="0"/>
              </a:spcAft>
              <a:buSzPts val="1600"/>
              <a:buFont typeface="Helvetica Neue"/>
              <a:buChar char="○"/>
            </a:pPr>
            <a:r>
              <a:rPr b="1" lang="en-US" sz="1600">
                <a:latin typeface="Helvetica Neue"/>
                <a:ea typeface="Helvetica Neue"/>
                <a:cs typeface="Helvetica Neue"/>
                <a:sym typeface="Helvetica Neue"/>
              </a:rPr>
              <a:t>Build a session-based recommender </a:t>
            </a:r>
            <a:r>
              <a:rPr lang="en-US" sz="1600">
                <a:latin typeface="Helvetica Neue"/>
                <a:ea typeface="Helvetica Neue"/>
                <a:cs typeface="Helvetica Neue"/>
                <a:sym typeface="Helvetica Neue"/>
              </a:rPr>
              <a:t>that</a:t>
            </a:r>
            <a:endParaRPr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Predicts next item in a user session</a:t>
            </a:r>
            <a:endParaRPr sz="1600">
              <a:latin typeface="Helvetica Neue"/>
              <a:ea typeface="Helvetica Neue"/>
              <a:cs typeface="Helvetica Neue"/>
              <a:sym typeface="Helvetica Neue"/>
            </a:endParaRPr>
          </a:p>
          <a:p>
            <a:pPr indent="-330200" lvl="2" marL="1371600" rtl="0" algn="l">
              <a:spcBef>
                <a:spcPts val="0"/>
              </a:spcBef>
              <a:spcAft>
                <a:spcPts val="0"/>
              </a:spcAft>
              <a:buSzPts val="1600"/>
              <a:buFont typeface="Helvetica Neue"/>
              <a:buChar char="■"/>
            </a:pPr>
            <a:r>
              <a:rPr lang="en-US" sz="1600">
                <a:latin typeface="Helvetica Neue"/>
                <a:ea typeface="Helvetica Neue"/>
                <a:cs typeface="Helvetica Neue"/>
                <a:sym typeface="Helvetica Neue"/>
              </a:rPr>
              <a:t>Generates Top-10 recommendations</a:t>
            </a:r>
            <a:endParaRPr sz="1600">
              <a:latin typeface="Helvetica Neue"/>
              <a:ea typeface="Helvetica Neue"/>
              <a:cs typeface="Helvetica Neue"/>
              <a:sym typeface="Helvetica Neue"/>
            </a:endParaRPr>
          </a:p>
          <a:p>
            <a:pPr indent="0" lvl="0" marL="0" rtl="0" algn="l">
              <a:spcBef>
                <a:spcPts val="0"/>
              </a:spcBef>
              <a:spcAft>
                <a:spcPts val="0"/>
              </a:spcAft>
              <a:buNone/>
            </a:pPr>
            <a:r>
              <a:t/>
            </a:r>
            <a:endParaRPr>
              <a:latin typeface="Helvetica Neue"/>
              <a:ea typeface="Helvetica Neue"/>
              <a:cs typeface="Helvetica Neue"/>
              <a:sym typeface="Helvetica Neue"/>
            </a:endParaRPr>
          </a:p>
        </p:txBody>
      </p:sp>
      <p:sp>
        <p:nvSpPr>
          <p:cNvPr id="275" name="Google Shape;275;p32"/>
          <p:cNvSpPr txBox="1"/>
          <p:nvPr>
            <p:ph type="title"/>
          </p:nvPr>
        </p:nvSpPr>
        <p:spPr>
          <a:xfrm>
            <a:off x="2053244" y="237614"/>
            <a:ext cx="6216285" cy="52137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990000"/>
              </a:buClr>
              <a:buSzPts val="2400"/>
              <a:buFont typeface="Helvetica Neue"/>
              <a:buNone/>
            </a:pPr>
            <a:r>
              <a:rPr lang="en-US"/>
              <a:t>Project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txBox="1"/>
          <p:nvPr>
            <p:ph type="title"/>
          </p:nvPr>
        </p:nvSpPr>
        <p:spPr>
          <a:xfrm>
            <a:off x="1463844" y="237614"/>
            <a:ext cx="6216300" cy="521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990000"/>
              </a:buClr>
              <a:buSzPts val="2400"/>
              <a:buFont typeface="Helvetica Neue"/>
              <a:buNone/>
            </a:pPr>
            <a:r>
              <a:rPr lang="en-US"/>
              <a:t>                              Dataset</a:t>
            </a:r>
            <a:endParaRPr/>
          </a:p>
        </p:txBody>
      </p:sp>
      <p:pic>
        <p:nvPicPr>
          <p:cNvPr id="281" name="Google Shape;281;p33"/>
          <p:cNvPicPr preferRelativeResize="0"/>
          <p:nvPr/>
        </p:nvPicPr>
        <p:blipFill>
          <a:blip r:embed="rId3">
            <a:alphaModFix/>
          </a:blip>
          <a:stretch>
            <a:fillRect/>
          </a:stretch>
        </p:blipFill>
        <p:spPr>
          <a:xfrm>
            <a:off x="3791050" y="911425"/>
            <a:ext cx="5029400" cy="2675200"/>
          </a:xfrm>
          <a:prstGeom prst="rect">
            <a:avLst/>
          </a:prstGeom>
          <a:noFill/>
          <a:ln>
            <a:noFill/>
          </a:ln>
        </p:spPr>
      </p:pic>
      <p:pic>
        <p:nvPicPr>
          <p:cNvPr id="282" name="Google Shape;282;p33"/>
          <p:cNvPicPr preferRelativeResize="0"/>
          <p:nvPr/>
        </p:nvPicPr>
        <p:blipFill>
          <a:blip r:embed="rId4">
            <a:alphaModFix/>
          </a:blip>
          <a:stretch>
            <a:fillRect/>
          </a:stretch>
        </p:blipFill>
        <p:spPr>
          <a:xfrm>
            <a:off x="3791050" y="3739025"/>
            <a:ext cx="4964226" cy="1876225"/>
          </a:xfrm>
          <a:prstGeom prst="rect">
            <a:avLst/>
          </a:prstGeom>
          <a:noFill/>
          <a:ln>
            <a:noFill/>
          </a:ln>
        </p:spPr>
      </p:pic>
      <p:sp>
        <p:nvSpPr>
          <p:cNvPr id="283" name="Google Shape;283;p33"/>
          <p:cNvSpPr txBox="1"/>
          <p:nvPr/>
        </p:nvSpPr>
        <p:spPr>
          <a:xfrm>
            <a:off x="327925" y="911425"/>
            <a:ext cx="3224100" cy="44946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dk1"/>
              </a:buClr>
              <a:buSzPts val="1000"/>
              <a:buFont typeface="Helvetica Neue"/>
              <a:buChar char="●"/>
            </a:pPr>
            <a:r>
              <a:rPr lang="en-US" sz="1000">
                <a:solidFill>
                  <a:schemeClr val="dk1"/>
                </a:solidFill>
                <a:latin typeface="Helvetica Neue"/>
                <a:ea typeface="Helvetica Neue"/>
                <a:cs typeface="Helvetica Neue"/>
                <a:sym typeface="Helvetica Neue"/>
              </a:rPr>
              <a:t>The dataset is </a:t>
            </a:r>
            <a:r>
              <a:rPr i="1" lang="en-US" sz="1000" u="sng">
                <a:solidFill>
                  <a:schemeClr val="hlink"/>
                </a:solidFill>
                <a:latin typeface="Helvetica Neue"/>
                <a:ea typeface="Helvetica Neue"/>
                <a:cs typeface="Helvetica Neue"/>
                <a:sym typeface="Helvetica Neue"/>
                <a:hlinkClick r:id="rId5"/>
              </a:rPr>
              <a:t>Netflix Audience Behaviour — UK Movies</a:t>
            </a:r>
            <a:r>
              <a:rPr lang="en-US" sz="1000">
                <a:solidFill>
                  <a:schemeClr val="dk1"/>
                </a:solidFill>
                <a:latin typeface="Helvetica Neue"/>
                <a:ea typeface="Helvetica Neue"/>
                <a:cs typeface="Helvetica Neue"/>
                <a:sym typeface="Helvetica Neue"/>
              </a:rPr>
              <a:t> — anonymised click-stream data from opted-in UK Netflix subscribers spanning Jan 2017 to Jun 2019. </a:t>
            </a:r>
            <a:endParaRPr sz="10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US" sz="1000">
                <a:solidFill>
                  <a:schemeClr val="dk1"/>
                </a:solidFill>
                <a:latin typeface="Helvetica Neue"/>
                <a:ea typeface="Helvetica Neue"/>
                <a:cs typeface="Helvetica Neue"/>
                <a:sym typeface="Helvetica Neue"/>
              </a:rPr>
              <a:t>Each record captures a single watch event (user ID, movie ID, timestamp), giving </a:t>
            </a:r>
            <a:r>
              <a:rPr b="1" lang="en-US" sz="1000">
                <a:solidFill>
                  <a:schemeClr val="dk1"/>
                </a:solidFill>
                <a:latin typeface="Helvetica Neue"/>
                <a:ea typeface="Helvetica Neue"/>
                <a:cs typeface="Helvetica Neue"/>
                <a:sym typeface="Helvetica Neue"/>
              </a:rPr>
              <a:t>671,736 interactions across 161,918 users and 8,472 movies</a:t>
            </a:r>
            <a:r>
              <a:rPr lang="en-US" sz="1000">
                <a:solidFill>
                  <a:schemeClr val="dk1"/>
                </a:solidFill>
                <a:latin typeface="Helvetica Neue"/>
                <a:ea typeface="Helvetica Neue"/>
                <a:cs typeface="Helvetica Neue"/>
                <a:sym typeface="Helvetica Neue"/>
              </a:rPr>
              <a:t>. </a:t>
            </a:r>
            <a:endParaRPr sz="10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US" sz="1000">
                <a:solidFill>
                  <a:schemeClr val="dk1"/>
                </a:solidFill>
                <a:latin typeface="Helvetica Neue"/>
                <a:ea typeface="Helvetica Neue"/>
                <a:cs typeface="Helvetica Neue"/>
                <a:sym typeface="Helvetica Neue"/>
              </a:rPr>
              <a:t>We filter the dataset to retain users with 1 to 37 unique movie interactions removing 299 super-users (top 0.18%) who watched up to 210 movies,  more than 8σ above the mean (μ=3.1, σ=4.3). Such outliers risk dominating learned embeddings and skewing recommendations away from typical viewers [Koren et al., 2009, Herlocker et al., 2004]. </a:t>
            </a:r>
            <a:endParaRPr sz="10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US" sz="1000">
                <a:solidFill>
                  <a:schemeClr val="dk1"/>
                </a:solidFill>
                <a:latin typeface="Helvetica Neue"/>
                <a:ea typeface="Helvetica Neue"/>
                <a:cs typeface="Helvetica Neue"/>
                <a:sym typeface="Helvetica Neue"/>
              </a:rPr>
              <a:t>The trimmed dataset retains </a:t>
            </a:r>
            <a:r>
              <a:rPr b="1" lang="en-US" sz="1000">
                <a:solidFill>
                  <a:schemeClr val="dk1"/>
                </a:solidFill>
                <a:latin typeface="Helvetica Neue"/>
                <a:ea typeface="Helvetica Neue"/>
                <a:cs typeface="Helvetica Neue"/>
                <a:sym typeface="Helvetica Neue"/>
              </a:rPr>
              <a:t>96.7%</a:t>
            </a:r>
            <a:r>
              <a:rPr lang="en-US" sz="1000">
                <a:solidFill>
                  <a:schemeClr val="dk1"/>
                </a:solidFill>
                <a:latin typeface="Helvetica Neue"/>
                <a:ea typeface="Helvetica Neue"/>
                <a:cs typeface="Helvetica Neue"/>
                <a:sym typeface="Helvetica Neue"/>
              </a:rPr>
              <a:t> of the original data (649,250 interactions, 161,618 users), confirming the core distribution is preserved.</a:t>
            </a:r>
            <a:endParaRPr sz="10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US" sz="1000">
                <a:solidFill>
                  <a:schemeClr val="dk1"/>
                </a:solidFill>
                <a:latin typeface="Helvetica Neue"/>
                <a:ea typeface="Helvetica Neue"/>
                <a:cs typeface="Helvetica Neue"/>
                <a:sym typeface="Helvetica Neue"/>
              </a:rPr>
              <a:t>To enrich the base click-stream data, two supplementary feature datasets were constructed by querying the TMDB (The Movie Database) API.</a:t>
            </a:r>
            <a:endParaRPr sz="1000">
              <a:solidFill>
                <a:schemeClr val="dk1"/>
              </a:solidFill>
              <a:latin typeface="Helvetica Neue"/>
              <a:ea typeface="Helvetica Neue"/>
              <a:cs typeface="Helvetica Neue"/>
              <a:sym typeface="Helvetica Neue"/>
            </a:endParaRPr>
          </a:p>
        </p:txBody>
      </p:sp>
      <p:sp>
        <p:nvSpPr>
          <p:cNvPr id="284" name="Google Shape;284;p33"/>
          <p:cNvSpPr txBox="1"/>
          <p:nvPr/>
        </p:nvSpPr>
        <p:spPr>
          <a:xfrm>
            <a:off x="439975" y="5559925"/>
            <a:ext cx="3000000" cy="869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1200"/>
              </a:spcBef>
              <a:spcAft>
                <a:spcPts val="0"/>
              </a:spcAft>
              <a:buClr>
                <a:schemeClr val="dk1"/>
              </a:buClr>
              <a:buSzPts val="1000"/>
              <a:buAutoNum type="arabicPeriod"/>
            </a:pPr>
            <a:r>
              <a:rPr b="1" lang="en-US" sz="1000">
                <a:solidFill>
                  <a:schemeClr val="dk1"/>
                </a:solidFill>
                <a:latin typeface="Helvetica Neue"/>
                <a:ea typeface="Helvetica Neue"/>
                <a:cs typeface="Helvetica Neue"/>
                <a:sym typeface="Helvetica Neue"/>
              </a:rPr>
              <a:t>User Features</a:t>
            </a:r>
            <a:r>
              <a:rPr lang="en-US" sz="1000">
                <a:solidFill>
                  <a:schemeClr val="dk1"/>
                </a:solidFill>
                <a:latin typeface="Helvetica Neue"/>
                <a:ea typeface="Helvetica Neue"/>
                <a:cs typeface="Helvetica Neue"/>
                <a:sym typeface="Helvetica Neue"/>
              </a:rPr>
              <a:t> capture behavioural patterns per user </a:t>
            </a:r>
            <a:endParaRPr b="1" sz="1000">
              <a:solidFill>
                <a:schemeClr val="dk1"/>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chemeClr val="dk1"/>
              </a:buClr>
              <a:buSzPts val="1000"/>
              <a:buAutoNum type="arabicPeriod"/>
            </a:pPr>
            <a:r>
              <a:rPr b="1" lang="en-US" sz="1000">
                <a:solidFill>
                  <a:schemeClr val="dk1"/>
                </a:solidFill>
                <a:latin typeface="Helvetica Neue"/>
                <a:ea typeface="Helvetica Neue"/>
                <a:cs typeface="Helvetica Neue"/>
                <a:sym typeface="Helvetica Neue"/>
              </a:rPr>
              <a:t>Item Features</a:t>
            </a:r>
            <a:r>
              <a:rPr lang="en-US" sz="1000">
                <a:solidFill>
                  <a:schemeClr val="dk1"/>
                </a:solidFill>
                <a:latin typeface="Helvetica Neue"/>
                <a:ea typeface="Helvetica Neue"/>
                <a:cs typeface="Helvetica Neue"/>
                <a:sym typeface="Helvetica Neue"/>
              </a:rPr>
              <a:t> capture movie-level metadata and popularity signals </a:t>
            </a:r>
            <a:endParaRPr sz="1500">
              <a:latin typeface="Helvetica Neue"/>
              <a:ea typeface="Helvetica Neue"/>
              <a:cs typeface="Helvetica Neue"/>
              <a:sym typeface="Helvetica Neue"/>
            </a:endParaRPr>
          </a:p>
        </p:txBody>
      </p:sp>
      <p:sp>
        <p:nvSpPr>
          <p:cNvPr id="285" name="Google Shape;285;p33"/>
          <p:cNvSpPr txBox="1"/>
          <p:nvPr/>
        </p:nvSpPr>
        <p:spPr>
          <a:xfrm>
            <a:off x="3892550" y="5716623"/>
            <a:ext cx="502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600">
                <a:solidFill>
                  <a:schemeClr val="dk1"/>
                </a:solidFill>
              </a:rPr>
              <a:t>Koren, Yehuda &amp; Bell, Robert &amp; Volinsky, Chris. (2009). Matrix factorization techniques for recommender systems. IEEE, Computer Journal, 42(8), 30-37. Computer. 42. 30 - 37. 10.1109/MC.2009.263. </a:t>
            </a:r>
            <a:endParaRPr i="1" sz="600">
              <a:solidFill>
                <a:schemeClr val="dk1"/>
              </a:solidFill>
            </a:endParaRPr>
          </a:p>
          <a:p>
            <a:pPr indent="0" lvl="0" marL="0" rtl="0" algn="l">
              <a:spcBef>
                <a:spcPts val="0"/>
              </a:spcBef>
              <a:spcAft>
                <a:spcPts val="0"/>
              </a:spcAft>
              <a:buNone/>
            </a:pPr>
            <a:r>
              <a:t/>
            </a:r>
            <a:endParaRPr i="1" sz="600">
              <a:solidFill>
                <a:schemeClr val="dk1"/>
              </a:solidFill>
            </a:endParaRPr>
          </a:p>
          <a:p>
            <a:pPr indent="0" lvl="0" marL="0" rtl="0" algn="l">
              <a:spcBef>
                <a:spcPts val="0"/>
              </a:spcBef>
              <a:spcAft>
                <a:spcPts val="0"/>
              </a:spcAft>
              <a:buNone/>
            </a:pPr>
            <a:r>
              <a:rPr i="1" lang="en-US" sz="600">
                <a:solidFill>
                  <a:srgbClr val="333333"/>
                </a:solidFill>
                <a:highlight>
                  <a:srgbClr val="F0F0F0"/>
                </a:highlight>
              </a:rPr>
              <a:t>Jonathan L. Herlocker, Joseph A. Konstan, Loren G. Terveen, and John T. Riedl. 2004. Evaluating collaborative filtering recommender systems. ACM Trans. Inf. Syst. 22, 1 (January 2004), 5–53. </a:t>
            </a:r>
            <a:r>
              <a:rPr i="1" lang="en-US" sz="600" u="sng">
                <a:solidFill>
                  <a:schemeClr val="hlink"/>
                </a:solidFill>
                <a:highlight>
                  <a:srgbClr val="F0F0F0"/>
                </a:highlight>
                <a:hlinkClick r:id="rId6"/>
              </a:rPr>
              <a:t>https://doi.org/10.1145/963770.963772</a:t>
            </a:r>
            <a:endParaRPr i="1" sz="600">
              <a:solidFill>
                <a:srgbClr val="333333"/>
              </a:solidFill>
              <a:highlight>
                <a:srgbClr val="F0F0F0"/>
              </a:highlight>
            </a:endParaRPr>
          </a:p>
          <a:p>
            <a:pPr indent="0" lvl="0" marL="0" rtl="0" algn="l">
              <a:spcBef>
                <a:spcPts val="0"/>
              </a:spcBef>
              <a:spcAft>
                <a:spcPts val="0"/>
              </a:spcAft>
              <a:buNone/>
            </a:pPr>
            <a:r>
              <a:t/>
            </a:r>
            <a:endParaRPr i="1" sz="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nvSpPr>
        <p:spPr>
          <a:xfrm>
            <a:off x="190888" y="1155000"/>
            <a:ext cx="4245300" cy="2248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SzPts val="1900"/>
              <a:buFont typeface="Helvetica Neue"/>
              <a:buChar char="●"/>
            </a:pPr>
            <a:r>
              <a:rPr b="1" lang="en-US" sz="1500">
                <a:latin typeface="Helvetica Neue"/>
                <a:ea typeface="Helvetica Neue"/>
                <a:cs typeface="Helvetica Neue"/>
                <a:sym typeface="Helvetica Neue"/>
              </a:rPr>
              <a:t>Baseline</a:t>
            </a:r>
            <a:r>
              <a:rPr lang="en-US" sz="1500">
                <a:latin typeface="Helvetica Neue"/>
                <a:ea typeface="Helvetica Neue"/>
                <a:cs typeface="Helvetica Neue"/>
                <a:sym typeface="Helvetica Neue"/>
              </a:rPr>
              <a:t> architectures</a:t>
            </a:r>
            <a:endParaRPr sz="1500">
              <a:latin typeface="Helvetica Neue"/>
              <a:ea typeface="Helvetica Neue"/>
              <a:cs typeface="Helvetica Neue"/>
              <a:sym typeface="Helvetica Neue"/>
            </a:endParaRPr>
          </a:p>
          <a:p>
            <a:pPr indent="-323850" lvl="1" marL="914400" rtl="0" algn="l">
              <a:spcBef>
                <a:spcPts val="0"/>
              </a:spcBef>
              <a:spcAft>
                <a:spcPts val="0"/>
              </a:spcAft>
              <a:buSzPts val="1500"/>
              <a:buFont typeface="Helvetica Neue"/>
              <a:buChar char="○"/>
            </a:pPr>
            <a:r>
              <a:rPr b="1" lang="en-US" sz="1500">
                <a:latin typeface="Helvetica Neue"/>
                <a:ea typeface="Helvetica Neue"/>
                <a:cs typeface="Helvetica Neue"/>
                <a:sym typeface="Helvetica Neue"/>
              </a:rPr>
              <a:t>Sequential Models</a:t>
            </a:r>
            <a:r>
              <a:rPr lang="en-US" sz="1500">
                <a:latin typeface="Helvetica Neue"/>
                <a:ea typeface="Helvetica Neue"/>
                <a:cs typeface="Helvetica Neue"/>
                <a:sym typeface="Helvetica Neue"/>
              </a:rPr>
              <a:t> – GRU4Rec, SASRec, BERT4Rec</a:t>
            </a:r>
            <a:endParaRPr sz="1500">
              <a:latin typeface="Helvetica Neue"/>
              <a:ea typeface="Helvetica Neue"/>
              <a:cs typeface="Helvetica Neue"/>
              <a:sym typeface="Helvetica Neue"/>
            </a:endParaRPr>
          </a:p>
          <a:p>
            <a:pPr indent="-323850" lvl="1" marL="914400" rtl="0" algn="l">
              <a:spcBef>
                <a:spcPts val="0"/>
              </a:spcBef>
              <a:spcAft>
                <a:spcPts val="0"/>
              </a:spcAft>
              <a:buSzPts val="1500"/>
              <a:buFont typeface="Helvetica Neue"/>
              <a:buChar char="○"/>
            </a:pPr>
            <a:r>
              <a:rPr b="1" lang="en-US" sz="1500">
                <a:latin typeface="Helvetica Neue"/>
                <a:ea typeface="Helvetica Neue"/>
                <a:cs typeface="Helvetica Neue"/>
                <a:sym typeface="Helvetica Neue"/>
              </a:rPr>
              <a:t>Graph-Based Model</a:t>
            </a:r>
            <a:r>
              <a:rPr lang="en-US" sz="1500">
                <a:latin typeface="Helvetica Neue"/>
                <a:ea typeface="Helvetica Neue"/>
                <a:cs typeface="Helvetica Neue"/>
                <a:sym typeface="Helvetica Neue"/>
              </a:rPr>
              <a:t> – LightGCN</a:t>
            </a:r>
            <a:endParaRPr sz="1500">
              <a:latin typeface="Helvetica Neue"/>
              <a:ea typeface="Helvetica Neue"/>
              <a:cs typeface="Helvetica Neue"/>
              <a:sym typeface="Helvetica Neue"/>
            </a:endParaRPr>
          </a:p>
          <a:p>
            <a:pPr indent="-323850" lvl="1" marL="914400" rtl="0" algn="l">
              <a:spcBef>
                <a:spcPts val="0"/>
              </a:spcBef>
              <a:spcAft>
                <a:spcPts val="0"/>
              </a:spcAft>
              <a:buSzPts val="1500"/>
              <a:buFont typeface="Helvetica Neue"/>
              <a:buChar char="○"/>
            </a:pPr>
            <a:r>
              <a:rPr b="1" lang="en-US" sz="1500">
                <a:latin typeface="Helvetica Neue"/>
                <a:ea typeface="Helvetica Neue"/>
                <a:cs typeface="Helvetica Neue"/>
                <a:sym typeface="Helvetica Neue"/>
              </a:rPr>
              <a:t>Hybrid</a:t>
            </a:r>
            <a:r>
              <a:rPr lang="en-US" sz="1500">
                <a:latin typeface="Helvetica Neue"/>
                <a:ea typeface="Helvetica Neue"/>
                <a:cs typeface="Helvetica Neue"/>
                <a:sym typeface="Helvetica Neue"/>
              </a:rPr>
              <a:t> Models (candidate generation → reranking ) – GRU+LightGCN, SASRec+LightGCN</a:t>
            </a:r>
            <a:endParaRPr sz="1500">
              <a:latin typeface="Helvetica Neue"/>
              <a:ea typeface="Helvetica Neue"/>
              <a:cs typeface="Helvetica Neue"/>
              <a:sym typeface="Helvetica Neue"/>
            </a:endParaRPr>
          </a:p>
        </p:txBody>
      </p:sp>
      <p:sp>
        <p:nvSpPr>
          <p:cNvPr id="291" name="Google Shape;291;p34"/>
          <p:cNvSpPr txBox="1"/>
          <p:nvPr>
            <p:ph type="title"/>
          </p:nvPr>
        </p:nvSpPr>
        <p:spPr>
          <a:xfrm>
            <a:off x="2053244" y="237614"/>
            <a:ext cx="6216300" cy="521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990000"/>
              </a:buClr>
              <a:buSzPts val="2400"/>
              <a:buFont typeface="Helvetica Neue"/>
              <a:buNone/>
            </a:pPr>
            <a:r>
              <a:rPr lang="en-US"/>
              <a:t>Experiments</a:t>
            </a:r>
            <a:endParaRPr/>
          </a:p>
        </p:txBody>
      </p:sp>
      <p:pic>
        <p:nvPicPr>
          <p:cNvPr id="292" name="Google Shape;292;p34" title="Screenshot 2026-04-23 at 8.39.57 PM.png"/>
          <p:cNvPicPr preferRelativeResize="0"/>
          <p:nvPr/>
        </p:nvPicPr>
        <p:blipFill>
          <a:blip r:embed="rId3">
            <a:alphaModFix/>
          </a:blip>
          <a:stretch>
            <a:fillRect/>
          </a:stretch>
        </p:blipFill>
        <p:spPr>
          <a:xfrm>
            <a:off x="4601037" y="1346350"/>
            <a:ext cx="4187224" cy="1865525"/>
          </a:xfrm>
          <a:prstGeom prst="rect">
            <a:avLst/>
          </a:prstGeom>
          <a:noFill/>
          <a:ln>
            <a:noFill/>
          </a:ln>
        </p:spPr>
      </p:pic>
      <p:sp>
        <p:nvSpPr>
          <p:cNvPr id="293" name="Google Shape;293;p34"/>
          <p:cNvSpPr txBox="1"/>
          <p:nvPr/>
        </p:nvSpPr>
        <p:spPr>
          <a:xfrm>
            <a:off x="4601088" y="3138600"/>
            <a:ext cx="418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latin typeface="Helvetica Neue"/>
                <a:ea typeface="Helvetica Neue"/>
                <a:cs typeface="Helvetica Neue"/>
                <a:sym typeface="Helvetica Neue"/>
              </a:rPr>
              <a:t>Sun, Fei, et al. "BERT4Rec: Sequential recommendation with bidirectional encoder representations from transformer." Proceedings of the 28th ACM international conference on information and knowledge management. 2019.</a:t>
            </a:r>
            <a:endParaRPr sz="600">
              <a:latin typeface="Helvetica Neue"/>
              <a:ea typeface="Helvetica Neue"/>
              <a:cs typeface="Helvetica Neue"/>
              <a:sym typeface="Helvetica Neue"/>
            </a:endParaRPr>
          </a:p>
        </p:txBody>
      </p:sp>
      <p:sp>
        <p:nvSpPr>
          <p:cNvPr id="294" name="Google Shape;294;p34"/>
          <p:cNvSpPr txBox="1"/>
          <p:nvPr/>
        </p:nvSpPr>
        <p:spPr>
          <a:xfrm>
            <a:off x="190888" y="3530450"/>
            <a:ext cx="8432400" cy="1865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Helvetica Neue"/>
              <a:buChar char="●"/>
            </a:pPr>
            <a:r>
              <a:rPr lang="en-US" sz="1500">
                <a:solidFill>
                  <a:schemeClr val="dk1"/>
                </a:solidFill>
                <a:latin typeface="Helvetica Neue"/>
                <a:ea typeface="Helvetica Neue"/>
                <a:cs typeface="Helvetica Neue"/>
                <a:sym typeface="Helvetica Neue"/>
              </a:rPr>
              <a:t>Extended baseline with </a:t>
            </a:r>
            <a:r>
              <a:rPr b="1" lang="en-US" sz="1500">
                <a:solidFill>
                  <a:schemeClr val="dk1"/>
                </a:solidFill>
                <a:latin typeface="Helvetica Neue"/>
                <a:ea typeface="Helvetica Neue"/>
                <a:cs typeface="Helvetica Neue"/>
                <a:sym typeface="Helvetica Neue"/>
              </a:rPr>
              <a:t>multi-objective loss</a:t>
            </a:r>
            <a:r>
              <a:rPr lang="en-US" sz="1500">
                <a:solidFill>
                  <a:schemeClr val="dk1"/>
                </a:solidFill>
                <a:latin typeface="Helvetica Neue"/>
                <a:ea typeface="Helvetica Neue"/>
                <a:cs typeface="Helvetica Neue"/>
                <a:sym typeface="Helvetica Neue"/>
              </a:rPr>
              <a:t>		</a:t>
            </a:r>
            <a:endParaRPr sz="1500">
              <a:solidFill>
                <a:schemeClr val="dk1"/>
              </a:solidFill>
              <a:latin typeface="Helvetica Neue"/>
              <a:ea typeface="Helvetica Neue"/>
              <a:cs typeface="Helvetica Neue"/>
              <a:sym typeface="Helvetica Neue"/>
            </a:endParaRPr>
          </a:p>
          <a:p>
            <a:pPr indent="457200" lvl="0" marL="1371600" rtl="0" algn="l">
              <a:spcBef>
                <a:spcPts val="0"/>
              </a:spcBef>
              <a:spcAft>
                <a:spcPts val="0"/>
              </a:spcAft>
              <a:buNone/>
            </a:pPr>
            <a:r>
              <a:t/>
            </a:r>
            <a:endParaRPr sz="1500">
              <a:solidFill>
                <a:schemeClr val="dk1"/>
              </a:solidFill>
              <a:latin typeface="Helvetica Neue"/>
              <a:ea typeface="Helvetica Neue"/>
              <a:cs typeface="Helvetica Neue"/>
              <a:sym typeface="Helvetica Neue"/>
            </a:endParaRPr>
          </a:p>
          <a:p>
            <a:pPr indent="457200" lvl="0" marL="1371600" rtl="0" algn="l">
              <a:spcBef>
                <a:spcPts val="0"/>
              </a:spcBef>
              <a:spcAft>
                <a:spcPts val="0"/>
              </a:spcAft>
              <a:buNone/>
            </a:pPr>
            <a:r>
              <a:rPr lang="en-US" sz="1500">
                <a:solidFill>
                  <a:schemeClr val="dk1"/>
                </a:solidFill>
                <a:latin typeface="Helvetica Neue"/>
                <a:ea typeface="Helvetica Neue"/>
                <a:cs typeface="Helvetica Neue"/>
                <a:sym typeface="Helvetica Neue"/>
              </a:rPr>
              <a:t>Loss = Cross Entropy + λ</a:t>
            </a:r>
            <a:r>
              <a:rPr baseline="-25000" lang="en-US" sz="1500">
                <a:solidFill>
                  <a:schemeClr val="dk1"/>
                </a:solidFill>
                <a:latin typeface="Helvetica Neue"/>
                <a:ea typeface="Helvetica Neue"/>
                <a:cs typeface="Helvetica Neue"/>
                <a:sym typeface="Helvetica Neue"/>
              </a:rPr>
              <a:t>diversity</a:t>
            </a:r>
            <a:r>
              <a:rPr lang="en-US" sz="1500">
                <a:solidFill>
                  <a:schemeClr val="dk1"/>
                </a:solidFill>
                <a:latin typeface="Helvetica Neue"/>
                <a:ea typeface="Helvetica Neue"/>
                <a:cs typeface="Helvetica Neue"/>
                <a:sym typeface="Helvetica Neue"/>
              </a:rPr>
              <a:t>​ + λ</a:t>
            </a:r>
            <a:r>
              <a:rPr baseline="-25000" lang="en-US" sz="1500">
                <a:solidFill>
                  <a:schemeClr val="dk1"/>
                </a:solidFill>
                <a:latin typeface="Helvetica Neue"/>
                <a:ea typeface="Helvetica Neue"/>
                <a:cs typeface="Helvetica Neue"/>
                <a:sym typeface="Helvetica Neue"/>
              </a:rPr>
              <a:t>novelty</a:t>
            </a:r>
            <a:r>
              <a:rPr lang="en-US" sz="1500">
                <a:solidFill>
                  <a:schemeClr val="dk1"/>
                </a:solidFill>
                <a:latin typeface="Helvetica Neue"/>
                <a:ea typeface="Helvetica Neue"/>
                <a:cs typeface="Helvetica Neue"/>
                <a:sym typeface="Helvetica Neue"/>
              </a:rPr>
              <a:t>​(+λ</a:t>
            </a:r>
            <a:r>
              <a:rPr baseline="-25000" lang="en-US" sz="1500">
                <a:solidFill>
                  <a:schemeClr val="dk1"/>
                </a:solidFill>
                <a:latin typeface="Helvetica Neue"/>
                <a:ea typeface="Helvetica Neue"/>
                <a:cs typeface="Helvetica Neue"/>
                <a:sym typeface="Helvetica Neue"/>
              </a:rPr>
              <a:t>kl</a:t>
            </a:r>
            <a:r>
              <a:rPr lang="en-US" sz="1500">
                <a:solidFill>
                  <a:schemeClr val="dk1"/>
                </a:solidFill>
                <a:latin typeface="Helvetica Neue"/>
                <a:ea typeface="Helvetica Neue"/>
                <a:cs typeface="Helvetica Neue"/>
                <a:sym typeface="Helvetica Neue"/>
              </a:rPr>
              <a:t>​)</a:t>
            </a:r>
            <a:endParaRPr sz="1500">
              <a:solidFill>
                <a:schemeClr val="dk1"/>
              </a:solidFill>
              <a:latin typeface="Helvetica Neue"/>
              <a:ea typeface="Helvetica Neue"/>
              <a:cs typeface="Helvetica Neue"/>
              <a:sym typeface="Helvetica Neue"/>
            </a:endParaRPr>
          </a:p>
          <a:p>
            <a:pPr indent="0" lvl="0" marL="914400" rtl="0" algn="l">
              <a:spcBef>
                <a:spcPts val="0"/>
              </a:spcBef>
              <a:spcAft>
                <a:spcPts val="0"/>
              </a:spcAft>
              <a:buNone/>
            </a:pPr>
            <a:r>
              <a:t/>
            </a:r>
            <a:endParaRPr sz="1500">
              <a:solidFill>
                <a:schemeClr val="dk1"/>
              </a:solidFill>
              <a:latin typeface="Helvetica Neue"/>
              <a:ea typeface="Helvetica Neue"/>
              <a:cs typeface="Helvetica Neue"/>
              <a:sym typeface="Helvetica Neue"/>
            </a:endParaRPr>
          </a:p>
          <a:p>
            <a:pPr indent="-323850" lvl="1" marL="914400" rtl="0" algn="l">
              <a:spcBef>
                <a:spcPts val="0"/>
              </a:spcBef>
              <a:spcAft>
                <a:spcPts val="0"/>
              </a:spcAft>
              <a:buClr>
                <a:schemeClr val="dk1"/>
              </a:buClr>
              <a:buSzPts val="1500"/>
              <a:buFont typeface="Helvetica Neue"/>
              <a:buChar char="○"/>
            </a:pPr>
            <a:r>
              <a:rPr lang="en-US" sz="1500">
                <a:solidFill>
                  <a:schemeClr val="dk1"/>
                </a:solidFill>
                <a:latin typeface="Helvetica Neue"/>
                <a:ea typeface="Helvetica Neue"/>
                <a:cs typeface="Helvetica Neue"/>
                <a:sym typeface="Helvetica Neue"/>
              </a:rPr>
              <a:t>Intention: Move beyond accuracy to improve recommendation quality</a:t>
            </a:r>
            <a:endParaRPr sz="15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b="1" sz="1500">
              <a:solidFill>
                <a:schemeClr val="dk1"/>
              </a:solidFill>
              <a:latin typeface="Helvetica Neue"/>
              <a:ea typeface="Helvetica Neue"/>
              <a:cs typeface="Helvetica Neue"/>
              <a:sym typeface="Helvetica Neue"/>
            </a:endParaRPr>
          </a:p>
          <a:p>
            <a:pPr indent="-323850" lvl="0" marL="457200" rtl="0" algn="l">
              <a:spcBef>
                <a:spcPts val="0"/>
              </a:spcBef>
              <a:spcAft>
                <a:spcPts val="0"/>
              </a:spcAft>
              <a:buClr>
                <a:schemeClr val="dk1"/>
              </a:buClr>
              <a:buSzPts val="1500"/>
              <a:buFont typeface="Helvetica Neue"/>
              <a:buChar char="●"/>
            </a:pPr>
            <a:r>
              <a:rPr b="1" lang="en-US" sz="1500">
                <a:solidFill>
                  <a:schemeClr val="dk1"/>
                </a:solidFill>
                <a:latin typeface="Helvetica Neue"/>
                <a:ea typeface="Helvetica Neue"/>
                <a:cs typeface="Helvetica Neue"/>
                <a:sym typeface="Helvetica Neue"/>
              </a:rPr>
              <a:t>Training</a:t>
            </a:r>
            <a:endParaRPr b="1" sz="1500">
              <a:solidFill>
                <a:schemeClr val="dk1"/>
              </a:solidFill>
              <a:latin typeface="Helvetica Neue"/>
              <a:ea typeface="Helvetica Neue"/>
              <a:cs typeface="Helvetica Neue"/>
              <a:sym typeface="Helvetica Neue"/>
            </a:endParaRPr>
          </a:p>
          <a:p>
            <a:pPr indent="-323850" lvl="1" marL="914400" rtl="0" algn="l">
              <a:spcBef>
                <a:spcPts val="0"/>
              </a:spcBef>
              <a:spcAft>
                <a:spcPts val="0"/>
              </a:spcAft>
              <a:buClr>
                <a:schemeClr val="dk1"/>
              </a:buClr>
              <a:buSzPts val="1500"/>
              <a:buFont typeface="Helvetica Neue"/>
              <a:buChar char="○"/>
            </a:pPr>
            <a:r>
              <a:rPr lang="en-US" sz="1500">
                <a:solidFill>
                  <a:schemeClr val="dk1"/>
                </a:solidFill>
                <a:latin typeface="Helvetica Neue"/>
                <a:ea typeface="Helvetica Neue"/>
                <a:cs typeface="Helvetica Neue"/>
                <a:sym typeface="Helvetica Neue"/>
              </a:rPr>
              <a:t>Data: Session-based sequences (timestamp ordered)</a:t>
            </a:r>
            <a:endParaRPr sz="1500">
              <a:solidFill>
                <a:schemeClr val="dk1"/>
              </a:solidFill>
              <a:latin typeface="Helvetica Neue"/>
              <a:ea typeface="Helvetica Neue"/>
              <a:cs typeface="Helvetica Neue"/>
              <a:sym typeface="Helvetica Neue"/>
            </a:endParaRPr>
          </a:p>
          <a:p>
            <a:pPr indent="-323850" lvl="1" marL="914400" rtl="0" algn="l">
              <a:spcBef>
                <a:spcPts val="0"/>
              </a:spcBef>
              <a:spcAft>
                <a:spcPts val="0"/>
              </a:spcAft>
              <a:buClr>
                <a:schemeClr val="dk1"/>
              </a:buClr>
              <a:buSzPts val="1500"/>
              <a:buFont typeface="Helvetica Neue"/>
              <a:buChar char="○"/>
            </a:pPr>
            <a:r>
              <a:rPr lang="en-US" sz="1500">
                <a:solidFill>
                  <a:schemeClr val="dk1"/>
                </a:solidFill>
                <a:latin typeface="Helvetica Neue"/>
                <a:ea typeface="Helvetica Neue"/>
                <a:cs typeface="Helvetica Neue"/>
                <a:sym typeface="Helvetica Neue"/>
              </a:rPr>
              <a:t>Split: Train (sequence[:-2]) / Val (penultimate item) / Test (final item)</a:t>
            </a:r>
            <a:endParaRPr sz="1500">
              <a:solidFill>
                <a:schemeClr val="dk1"/>
              </a:solidFill>
              <a:latin typeface="Helvetica Neue"/>
              <a:ea typeface="Helvetica Neue"/>
              <a:cs typeface="Helvetica Neue"/>
              <a:sym typeface="Helvetica Neue"/>
            </a:endParaRPr>
          </a:p>
          <a:p>
            <a:pPr indent="-323850" lvl="1" marL="914400" rtl="0" algn="l">
              <a:spcBef>
                <a:spcPts val="0"/>
              </a:spcBef>
              <a:spcAft>
                <a:spcPts val="0"/>
              </a:spcAft>
              <a:buClr>
                <a:schemeClr val="dk1"/>
              </a:buClr>
              <a:buSzPts val="1500"/>
              <a:buFont typeface="Helvetica Neue"/>
              <a:buChar char="○"/>
            </a:pPr>
            <a:r>
              <a:rPr lang="en-US" sz="1500">
                <a:solidFill>
                  <a:schemeClr val="dk1"/>
                </a:solidFill>
                <a:latin typeface="Helvetica Neue"/>
                <a:ea typeface="Helvetica Neue"/>
                <a:cs typeface="Helvetica Neue"/>
                <a:sym typeface="Helvetica Neue"/>
              </a:rPr>
              <a:t>Mini-batch w/ Adam optimizer, Early stopping, Hyperparam grid search</a:t>
            </a:r>
            <a:endParaRPr sz="1500">
              <a:solidFill>
                <a:schemeClr val="dk1"/>
              </a:solidFill>
              <a:latin typeface="Helvetica Neue"/>
              <a:ea typeface="Helvetica Neue"/>
              <a:cs typeface="Helvetica Neue"/>
              <a:sym typeface="Helvetica Neue"/>
            </a:endParaRPr>
          </a:p>
          <a:p>
            <a:pPr indent="-323850" lvl="0" marL="457200" rtl="0" algn="l">
              <a:spcBef>
                <a:spcPts val="0"/>
              </a:spcBef>
              <a:spcAft>
                <a:spcPts val="0"/>
              </a:spcAft>
              <a:buClr>
                <a:schemeClr val="dk1"/>
              </a:buClr>
              <a:buSzPts val="1500"/>
              <a:buFont typeface="Helvetica Neue"/>
              <a:buChar char="●"/>
            </a:pPr>
            <a:r>
              <a:rPr b="1" lang="en-US" sz="1500">
                <a:solidFill>
                  <a:schemeClr val="dk1"/>
                </a:solidFill>
                <a:latin typeface="Helvetica Neue"/>
                <a:ea typeface="Helvetica Neue"/>
                <a:cs typeface="Helvetica Neue"/>
                <a:sym typeface="Helvetica Neue"/>
              </a:rPr>
              <a:t>Evaluation</a:t>
            </a:r>
            <a:r>
              <a:rPr lang="en-US" sz="1500">
                <a:solidFill>
                  <a:schemeClr val="dk1"/>
                </a:solidFill>
                <a:latin typeface="Helvetica Neue"/>
                <a:ea typeface="Helvetica Neue"/>
                <a:cs typeface="Helvetica Neue"/>
                <a:sym typeface="Helvetica Neue"/>
              </a:rPr>
              <a:t> Metrics: HR@10, NDCG@10, MRR, Avg Cosine Similarity (semantic relevance)</a:t>
            </a:r>
            <a:endParaRPr sz="15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type="title"/>
          </p:nvPr>
        </p:nvSpPr>
        <p:spPr>
          <a:xfrm>
            <a:off x="1885025" y="160395"/>
            <a:ext cx="6384600" cy="521400"/>
          </a:xfrm>
          <a:prstGeom prst="rect">
            <a:avLst/>
          </a:prstGeom>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Sequential Models (</a:t>
            </a:r>
            <a:r>
              <a:rPr lang="en-US" sz="1956"/>
              <a:t>Transformer-based Recommendation)</a:t>
            </a:r>
            <a:endParaRPr sz="1956"/>
          </a:p>
        </p:txBody>
      </p:sp>
      <p:pic>
        <p:nvPicPr>
          <p:cNvPr id="301" name="Google Shape;301;p35"/>
          <p:cNvPicPr preferRelativeResize="0"/>
          <p:nvPr/>
        </p:nvPicPr>
        <p:blipFill rotWithShape="1">
          <a:blip r:embed="rId3">
            <a:alphaModFix/>
          </a:blip>
          <a:srcRect b="0" l="0" r="0" t="4453"/>
          <a:stretch/>
        </p:blipFill>
        <p:spPr>
          <a:xfrm>
            <a:off x="251350" y="953575"/>
            <a:ext cx="6519299" cy="3502699"/>
          </a:xfrm>
          <a:prstGeom prst="rect">
            <a:avLst/>
          </a:prstGeom>
          <a:noFill/>
          <a:ln>
            <a:noFill/>
          </a:ln>
        </p:spPr>
      </p:pic>
      <p:sp>
        <p:nvSpPr>
          <p:cNvPr id="302" name="Google Shape;302;p35"/>
          <p:cNvSpPr txBox="1"/>
          <p:nvPr/>
        </p:nvSpPr>
        <p:spPr>
          <a:xfrm>
            <a:off x="6208975" y="994225"/>
            <a:ext cx="2637900" cy="1703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Char char="●"/>
            </a:pPr>
            <a:r>
              <a:rPr lang="en-US" sz="1200">
                <a:solidFill>
                  <a:schemeClr val="dk1"/>
                </a:solidFill>
                <a:latin typeface="Helvetica Neue"/>
                <a:ea typeface="Helvetica Neue"/>
                <a:cs typeface="Helvetica Neue"/>
                <a:sym typeface="Helvetica Neue"/>
              </a:rPr>
              <a:t>We implement </a:t>
            </a:r>
            <a:r>
              <a:rPr b="1" lang="en-US" sz="1200">
                <a:solidFill>
                  <a:schemeClr val="dk1"/>
                </a:solidFill>
                <a:latin typeface="Helvetica Neue"/>
                <a:ea typeface="Helvetica Neue"/>
                <a:cs typeface="Helvetica Neue"/>
                <a:sym typeface="Helvetica Neue"/>
              </a:rPr>
              <a:t>BERT4Rec (Sun et al., 2019)</a:t>
            </a:r>
            <a:r>
              <a:rPr lang="en-US" sz="1200">
                <a:solidFill>
                  <a:schemeClr val="dk1"/>
                </a:solidFill>
                <a:latin typeface="Helvetica Neue"/>
                <a:ea typeface="Helvetica Neue"/>
                <a:cs typeface="Helvetica Neue"/>
                <a:sym typeface="Helvetica Neue"/>
              </a:rPr>
              <a:t> and </a:t>
            </a:r>
            <a:r>
              <a:rPr b="1" lang="en-US" sz="1200">
                <a:solidFill>
                  <a:schemeClr val="dk1"/>
                </a:solidFill>
                <a:latin typeface="Helvetica Neue"/>
                <a:ea typeface="Helvetica Neue"/>
                <a:cs typeface="Helvetica Neue"/>
                <a:sym typeface="Helvetica Neue"/>
              </a:rPr>
              <a:t>SASRec (Kang &amp; McAuley, 2018)</a:t>
            </a:r>
            <a:r>
              <a:rPr lang="en-US" sz="1200">
                <a:solidFill>
                  <a:schemeClr val="dk1"/>
                </a:solidFill>
                <a:latin typeface="Helvetica Neue"/>
                <a:ea typeface="Helvetica Neue"/>
                <a:cs typeface="Helvetica Neue"/>
                <a:sym typeface="Helvetica Neue"/>
              </a:rPr>
              <a:t>, both based on transformer architectures. </a:t>
            </a:r>
            <a:endParaRPr sz="1200">
              <a:solidFill>
                <a:schemeClr val="dk1"/>
              </a:solidFill>
              <a:latin typeface="Helvetica Neue"/>
              <a:ea typeface="Helvetica Neue"/>
              <a:cs typeface="Helvetica Neue"/>
              <a:sym typeface="Helvetica Neue"/>
            </a:endParaRPr>
          </a:p>
          <a:p>
            <a:pPr indent="0" lvl="0" marL="457200" rtl="0" algn="l">
              <a:lnSpc>
                <a:spcPct val="115000"/>
              </a:lnSpc>
              <a:spcBef>
                <a:spcPts val="2000"/>
              </a:spcBef>
              <a:spcAft>
                <a:spcPts val="2000"/>
              </a:spcAft>
              <a:buNone/>
            </a:pPr>
            <a:r>
              <a:t/>
            </a:r>
            <a:endParaRPr sz="1300">
              <a:latin typeface="Helvetica Neue"/>
              <a:ea typeface="Helvetica Neue"/>
              <a:cs typeface="Helvetica Neue"/>
              <a:sym typeface="Helvetica Neue"/>
            </a:endParaRPr>
          </a:p>
        </p:txBody>
      </p:sp>
      <p:sp>
        <p:nvSpPr>
          <p:cNvPr id="303" name="Google Shape;303;p35"/>
          <p:cNvSpPr txBox="1"/>
          <p:nvPr/>
        </p:nvSpPr>
        <p:spPr>
          <a:xfrm>
            <a:off x="2007600" y="4432126"/>
            <a:ext cx="65193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700"/>
              <a:t>Fig 4.1 Architecture diagram for Bert4Rec (left) and SASRec (right)</a:t>
            </a:r>
            <a:endParaRPr b="1" i="1" sz="700"/>
          </a:p>
        </p:txBody>
      </p:sp>
      <p:sp>
        <p:nvSpPr>
          <p:cNvPr id="304" name="Google Shape;304;p35"/>
          <p:cNvSpPr txBox="1"/>
          <p:nvPr/>
        </p:nvSpPr>
        <p:spPr>
          <a:xfrm>
            <a:off x="6292500" y="2277225"/>
            <a:ext cx="2554500" cy="2706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Char char="●"/>
            </a:pPr>
            <a:r>
              <a:rPr lang="en-US" sz="1200">
                <a:solidFill>
                  <a:schemeClr val="dk1"/>
                </a:solidFill>
                <a:latin typeface="Helvetica Neue"/>
                <a:ea typeface="Helvetica Neue"/>
                <a:cs typeface="Helvetica Neue"/>
                <a:sym typeface="Helvetica Neue"/>
              </a:rPr>
              <a:t>BERT4Rec uses </a:t>
            </a:r>
            <a:r>
              <a:rPr b="1" lang="en-US" sz="1200">
                <a:solidFill>
                  <a:schemeClr val="dk1"/>
                </a:solidFill>
                <a:latin typeface="Helvetica Neue"/>
                <a:ea typeface="Helvetica Neue"/>
                <a:cs typeface="Helvetica Neue"/>
                <a:sym typeface="Helvetica Neue"/>
              </a:rPr>
              <a:t>bidirectional attention with masked prediction</a:t>
            </a:r>
            <a:r>
              <a:rPr lang="en-US" sz="1200">
                <a:solidFill>
                  <a:schemeClr val="dk1"/>
                </a:solidFill>
                <a:latin typeface="Helvetica Neue"/>
                <a:ea typeface="Helvetica Neue"/>
                <a:cs typeface="Helvetica Neue"/>
                <a:sym typeface="Helvetica Neue"/>
              </a:rPr>
              <a:t>, while SASRec uses </a:t>
            </a:r>
            <a:r>
              <a:rPr b="1" lang="en-US" sz="1200">
                <a:solidFill>
                  <a:schemeClr val="dk1"/>
                </a:solidFill>
                <a:latin typeface="Helvetica Neue"/>
                <a:ea typeface="Helvetica Neue"/>
                <a:cs typeface="Helvetica Neue"/>
                <a:sym typeface="Helvetica Neue"/>
              </a:rPr>
              <a:t>causal masking</a:t>
            </a:r>
            <a:r>
              <a:rPr lang="en-US" sz="1200">
                <a:solidFill>
                  <a:schemeClr val="dk1"/>
                </a:solidFill>
                <a:latin typeface="Helvetica Neue"/>
                <a:ea typeface="Helvetica Neue"/>
                <a:cs typeface="Helvetica Neue"/>
                <a:sym typeface="Helvetica Neue"/>
              </a:rPr>
              <a:t>, restricting attention to past interactions only. Both models learn user representations from sequences and predict the next item using a full softmax over all items.</a:t>
            </a:r>
            <a:endParaRPr>
              <a:latin typeface="Helvetica Neue"/>
              <a:ea typeface="Helvetica Neue"/>
              <a:cs typeface="Helvetica Neue"/>
              <a:sym typeface="Helvetica Neue"/>
            </a:endParaRPr>
          </a:p>
        </p:txBody>
      </p:sp>
      <p:sp>
        <p:nvSpPr>
          <p:cNvPr id="305" name="Google Shape;305;p35"/>
          <p:cNvSpPr txBox="1"/>
          <p:nvPr/>
        </p:nvSpPr>
        <p:spPr>
          <a:xfrm>
            <a:off x="294700" y="4879075"/>
            <a:ext cx="84342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Char char="●"/>
            </a:pPr>
            <a:r>
              <a:rPr lang="en-US" sz="1200">
                <a:solidFill>
                  <a:schemeClr val="dk1"/>
                </a:solidFill>
                <a:latin typeface="Helvetica Neue"/>
                <a:ea typeface="Helvetica Neue"/>
                <a:cs typeface="Helvetica Neue"/>
                <a:sym typeface="Helvetica Neue"/>
              </a:rPr>
              <a:t>We extend both models by injecting </a:t>
            </a:r>
            <a:r>
              <a:rPr b="1" lang="en-US" sz="1200">
                <a:solidFill>
                  <a:schemeClr val="dk1"/>
                </a:solidFill>
                <a:latin typeface="Helvetica Neue"/>
                <a:ea typeface="Helvetica Neue"/>
                <a:cs typeface="Helvetica Neue"/>
                <a:sym typeface="Helvetica Neue"/>
              </a:rPr>
              <a:t>item features (genres, popularity)</a:t>
            </a:r>
            <a:r>
              <a:rPr lang="en-US" sz="1200">
                <a:solidFill>
                  <a:schemeClr val="dk1"/>
                </a:solidFill>
                <a:latin typeface="Helvetica Neue"/>
                <a:ea typeface="Helvetica Neue"/>
                <a:cs typeface="Helvetica Neue"/>
                <a:sym typeface="Helvetica Neue"/>
              </a:rPr>
              <a:t> and </a:t>
            </a:r>
            <a:r>
              <a:rPr b="1" lang="en-US" sz="1200">
                <a:solidFill>
                  <a:schemeClr val="dk1"/>
                </a:solidFill>
                <a:latin typeface="Helvetica Neue"/>
                <a:ea typeface="Helvetica Neue"/>
                <a:cs typeface="Helvetica Neue"/>
                <a:sym typeface="Helvetica Neue"/>
              </a:rPr>
              <a:t>user features (engagement, preferences)</a:t>
            </a:r>
            <a:r>
              <a:rPr lang="en-US" sz="1200">
                <a:solidFill>
                  <a:schemeClr val="dk1"/>
                </a:solidFill>
                <a:latin typeface="Helvetica Neue"/>
                <a:ea typeface="Helvetica Neue"/>
                <a:cs typeface="Helvetica Neue"/>
                <a:sym typeface="Helvetica Neue"/>
              </a:rPr>
              <a:t> through gated projections before the transformer layers. </a:t>
            </a:r>
            <a:endParaRPr sz="1200">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304800" lvl="0" marL="457200" rtl="0" algn="l">
              <a:spcBef>
                <a:spcPts val="0"/>
              </a:spcBef>
              <a:spcAft>
                <a:spcPts val="0"/>
              </a:spcAft>
              <a:buClr>
                <a:schemeClr val="dk1"/>
              </a:buClr>
              <a:buSzPts val="1200"/>
              <a:buChar char="●"/>
            </a:pPr>
            <a:r>
              <a:rPr lang="en-US" sz="1200">
                <a:solidFill>
                  <a:schemeClr val="dk1"/>
                </a:solidFill>
                <a:latin typeface="Helvetica Neue"/>
                <a:ea typeface="Helvetica Neue"/>
                <a:cs typeface="Helvetica Neue"/>
                <a:sym typeface="Helvetica Neue"/>
              </a:rPr>
              <a:t>We also replace the original output layer with a </a:t>
            </a:r>
            <a:r>
              <a:rPr b="1" lang="en-US" sz="1200">
                <a:solidFill>
                  <a:schemeClr val="dk1"/>
                </a:solidFill>
                <a:latin typeface="Helvetica Neue"/>
                <a:ea typeface="Helvetica Neue"/>
                <a:cs typeface="Helvetica Neue"/>
                <a:sym typeface="Helvetica Neue"/>
              </a:rPr>
              <a:t>deeper classifier MLP</a:t>
            </a:r>
            <a:r>
              <a:rPr lang="en-US" sz="1200">
                <a:solidFill>
                  <a:schemeClr val="dk1"/>
                </a:solidFill>
                <a:latin typeface="Helvetica Neue"/>
                <a:ea typeface="Helvetica Neue"/>
                <a:cs typeface="Helvetica Neue"/>
                <a:sym typeface="Helvetica Neue"/>
              </a:rPr>
              <a:t>, use </a:t>
            </a:r>
            <a:r>
              <a:rPr b="1" lang="en-US" sz="1200">
                <a:solidFill>
                  <a:schemeClr val="dk1"/>
                </a:solidFill>
                <a:latin typeface="Helvetica Neue"/>
                <a:ea typeface="Helvetica Neue"/>
                <a:cs typeface="Helvetica Neue"/>
                <a:sym typeface="Helvetica Neue"/>
              </a:rPr>
              <a:t>Pre-LayerNorm for stability</a:t>
            </a:r>
            <a:r>
              <a:rPr lang="en-US" sz="1200">
                <a:solidFill>
                  <a:schemeClr val="dk1"/>
                </a:solidFill>
                <a:latin typeface="Helvetica Neue"/>
                <a:ea typeface="Helvetica Neue"/>
                <a:cs typeface="Helvetica Neue"/>
                <a:sym typeface="Helvetica Neue"/>
              </a:rPr>
              <a:t>, and apply a </a:t>
            </a:r>
            <a:r>
              <a:rPr b="1" lang="en-US" sz="1200">
                <a:solidFill>
                  <a:schemeClr val="dk1"/>
                </a:solidFill>
                <a:latin typeface="Helvetica Neue"/>
                <a:ea typeface="Helvetica Neue"/>
                <a:cs typeface="Helvetica Neue"/>
                <a:sym typeface="Helvetica Neue"/>
              </a:rPr>
              <a:t>popularity-debiased loss</a:t>
            </a:r>
            <a:r>
              <a:rPr lang="en-US" sz="1200">
                <a:solidFill>
                  <a:schemeClr val="dk1"/>
                </a:solidFill>
                <a:latin typeface="Helvetica Neue"/>
                <a:ea typeface="Helvetica Neue"/>
                <a:cs typeface="Helvetica Neue"/>
                <a:sym typeface="Helvetica Neue"/>
              </a:rPr>
              <a:t> to reduce bias toward frequently watched items. By incorporating side information and stabilising training, we improve generalisation and allow the models to better handle short user histories.</a:t>
            </a:r>
            <a:endParaRPr>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type="title"/>
          </p:nvPr>
        </p:nvSpPr>
        <p:spPr>
          <a:xfrm>
            <a:off x="2053244" y="237614"/>
            <a:ext cx="6216300" cy="521400"/>
          </a:xfrm>
          <a:prstGeom prst="rect">
            <a:avLst/>
          </a:prstGeom>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Graph-Based Models (Collaborative Filtering)</a:t>
            </a:r>
            <a:endParaRPr/>
          </a:p>
        </p:txBody>
      </p:sp>
      <p:pic>
        <p:nvPicPr>
          <p:cNvPr id="312" name="Google Shape;312;p36"/>
          <p:cNvPicPr preferRelativeResize="0"/>
          <p:nvPr/>
        </p:nvPicPr>
        <p:blipFill rotWithShape="1">
          <a:blip r:embed="rId3">
            <a:alphaModFix/>
          </a:blip>
          <a:srcRect b="0" l="0" r="0" t="4325"/>
          <a:stretch/>
        </p:blipFill>
        <p:spPr>
          <a:xfrm>
            <a:off x="290650" y="1186514"/>
            <a:ext cx="5126399" cy="4291450"/>
          </a:xfrm>
          <a:prstGeom prst="rect">
            <a:avLst/>
          </a:prstGeom>
          <a:noFill/>
          <a:ln>
            <a:noFill/>
          </a:ln>
        </p:spPr>
      </p:pic>
      <p:sp>
        <p:nvSpPr>
          <p:cNvPr id="313" name="Google Shape;313;p36"/>
          <p:cNvSpPr txBox="1"/>
          <p:nvPr/>
        </p:nvSpPr>
        <p:spPr>
          <a:xfrm>
            <a:off x="1456250" y="5477964"/>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700">
                <a:solidFill>
                  <a:schemeClr val="dk1"/>
                </a:solidFill>
              </a:rPr>
              <a:t>Fig 4.2 Architecture diagram for Light GCN</a:t>
            </a:r>
            <a:endParaRPr b="1" i="1" sz="700">
              <a:solidFill>
                <a:schemeClr val="dk1"/>
              </a:solidFill>
            </a:endParaRPr>
          </a:p>
        </p:txBody>
      </p:sp>
      <p:sp>
        <p:nvSpPr>
          <p:cNvPr id="314" name="Google Shape;314;p36"/>
          <p:cNvSpPr txBox="1"/>
          <p:nvPr/>
        </p:nvSpPr>
        <p:spPr>
          <a:xfrm>
            <a:off x="5308975" y="1007575"/>
            <a:ext cx="3590400" cy="2918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7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We use LightGCN (He et al., 2020), which learns embeddings by repeatedly propagating information over the graph using a normalised adjacency matrix. </a:t>
            </a:r>
            <a:endParaRPr sz="1200">
              <a:solidFill>
                <a:schemeClr val="dk1"/>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At each layer, a node updates its representation by aggregating embeddings from its neighbours, allowing user and item embeddings to incorporate higher-order connectivity. </a:t>
            </a:r>
            <a:endParaRPr sz="1200">
              <a:solidFill>
                <a:schemeClr val="dk1"/>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The final embedding is computed as the average over multiple propagation layers, ensuring stable and smooth representations.</a:t>
            </a:r>
            <a:endParaRPr sz="1200">
              <a:solidFill>
                <a:schemeClr val="dk1"/>
              </a:solidFill>
              <a:latin typeface="Helvetica Neue"/>
              <a:ea typeface="Helvetica Neue"/>
              <a:cs typeface="Helvetica Neue"/>
              <a:sym typeface="Helvetica Neue"/>
            </a:endParaRPr>
          </a:p>
        </p:txBody>
      </p:sp>
      <p:sp>
        <p:nvSpPr>
          <p:cNvPr id="315" name="Google Shape;315;p36"/>
          <p:cNvSpPr txBox="1"/>
          <p:nvPr/>
        </p:nvSpPr>
        <p:spPr>
          <a:xfrm>
            <a:off x="5308975" y="3796959"/>
            <a:ext cx="3468300" cy="1856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7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These embeddings are precomputed once per epoch and injected into downstream models via a learnable gating mechanism, alongside base embeddings and feature projections. </a:t>
            </a:r>
            <a:endParaRPr sz="1200">
              <a:solidFill>
                <a:schemeClr val="dk1"/>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This avoids backpropagating through sparse graph operations, improving computational efficiency and stability .</a:t>
            </a:r>
            <a:endParaRPr>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txBox="1"/>
          <p:nvPr>
            <p:ph type="title"/>
          </p:nvPr>
        </p:nvSpPr>
        <p:spPr>
          <a:xfrm>
            <a:off x="2053244" y="237614"/>
            <a:ext cx="6216300" cy="5214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SzPts val="990"/>
              <a:buNone/>
            </a:pPr>
            <a:r>
              <a:rPr lang="en-US" sz="2060"/>
              <a:t>Hybrid Models (Sequential + Graph Integration)</a:t>
            </a:r>
            <a:endParaRPr sz="2060"/>
          </a:p>
        </p:txBody>
      </p:sp>
      <p:pic>
        <p:nvPicPr>
          <p:cNvPr id="322" name="Google Shape;322;p37"/>
          <p:cNvPicPr preferRelativeResize="0"/>
          <p:nvPr/>
        </p:nvPicPr>
        <p:blipFill rotWithShape="1">
          <a:blip r:embed="rId3">
            <a:alphaModFix/>
          </a:blip>
          <a:srcRect b="0" l="0" r="49965" t="4644"/>
          <a:stretch/>
        </p:blipFill>
        <p:spPr>
          <a:xfrm>
            <a:off x="294025" y="904875"/>
            <a:ext cx="4052925" cy="4139501"/>
          </a:xfrm>
          <a:prstGeom prst="rect">
            <a:avLst/>
          </a:prstGeom>
          <a:noFill/>
          <a:ln>
            <a:noFill/>
          </a:ln>
        </p:spPr>
      </p:pic>
      <p:sp>
        <p:nvSpPr>
          <p:cNvPr id="323" name="Google Shape;323;p37"/>
          <p:cNvSpPr txBox="1"/>
          <p:nvPr/>
        </p:nvSpPr>
        <p:spPr>
          <a:xfrm>
            <a:off x="885825" y="5044375"/>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700">
                <a:solidFill>
                  <a:schemeClr val="dk1"/>
                </a:solidFill>
              </a:rPr>
              <a:t>Fig 4.2 Architecture diagram for Hybrid GRU + Light GCN</a:t>
            </a:r>
            <a:endParaRPr b="1" i="1" sz="700">
              <a:solidFill>
                <a:schemeClr val="dk1"/>
              </a:solidFill>
            </a:endParaRPr>
          </a:p>
        </p:txBody>
      </p:sp>
      <p:sp>
        <p:nvSpPr>
          <p:cNvPr id="324" name="Google Shape;324;p37"/>
          <p:cNvSpPr txBox="1"/>
          <p:nvPr/>
        </p:nvSpPr>
        <p:spPr>
          <a:xfrm>
            <a:off x="4522325" y="4942525"/>
            <a:ext cx="43074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The final hidden state serves as a compact representation of the user’s current intent and is used to predict the next item via a shared embedding projection.</a:t>
            </a:r>
            <a:endParaRPr sz="1200">
              <a:solidFill>
                <a:schemeClr val="dk1"/>
              </a:solidFill>
              <a:latin typeface="Helvetica Neue"/>
              <a:ea typeface="Helvetica Neue"/>
              <a:cs typeface="Helvetica Neue"/>
              <a:sym typeface="Helvetica Neue"/>
            </a:endParaRPr>
          </a:p>
        </p:txBody>
      </p:sp>
      <p:sp>
        <p:nvSpPr>
          <p:cNvPr id="325" name="Google Shape;325;p37"/>
          <p:cNvSpPr txBox="1"/>
          <p:nvPr/>
        </p:nvSpPr>
        <p:spPr>
          <a:xfrm>
            <a:off x="4488150" y="824225"/>
            <a:ext cx="4366500" cy="1431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Helvetica Neue"/>
              <a:buChar char="●"/>
            </a:pPr>
            <a:r>
              <a:rPr lang="en-US" sz="1200">
                <a:solidFill>
                  <a:schemeClr val="dk1"/>
                </a:solidFill>
                <a:latin typeface="Helvetica Neue"/>
                <a:ea typeface="Helvetica Neue"/>
                <a:cs typeface="Helvetica Neue"/>
                <a:sym typeface="Helvetica Neue"/>
              </a:rPr>
              <a:t>I</a:t>
            </a:r>
            <a:r>
              <a:rPr lang="en-US" sz="1200">
                <a:solidFill>
                  <a:schemeClr val="dk1"/>
                </a:solidFill>
                <a:latin typeface="Helvetica Neue"/>
                <a:ea typeface="Helvetica Neue"/>
                <a:cs typeface="Helvetica Neue"/>
                <a:sym typeface="Helvetica Neue"/>
              </a:rPr>
              <a:t>n our dataset, user sequences are relatively short, which makes purely sequential models data-limited, while graph models lack ordering information</a:t>
            </a:r>
            <a:r>
              <a:rPr lang="en-US" sz="1600">
                <a:solidFill>
                  <a:schemeClr val="dk1"/>
                </a:solidFill>
                <a:latin typeface="Helvetica Neue"/>
                <a:ea typeface="Helvetica Neue"/>
                <a:cs typeface="Helvetica Neue"/>
                <a:sym typeface="Helvetica Neue"/>
              </a:rPr>
              <a:t>.</a:t>
            </a:r>
            <a:endParaRPr sz="1200">
              <a:solidFill>
                <a:schemeClr val="dk1"/>
              </a:solidFill>
              <a:latin typeface="Helvetica Neue"/>
              <a:ea typeface="Helvetica Neue"/>
              <a:cs typeface="Helvetica Neue"/>
              <a:sym typeface="Helvetica Neue"/>
            </a:endParaRPr>
          </a:p>
          <a:p>
            <a:pPr indent="0" lvl="0" marL="0" rtl="0" algn="just">
              <a:lnSpc>
                <a:spcPct val="115000"/>
              </a:lnSpc>
              <a:spcBef>
                <a:spcPts val="2000"/>
              </a:spcBef>
              <a:spcAft>
                <a:spcPts val="2000"/>
              </a:spcAft>
              <a:buNone/>
            </a:pPr>
            <a:r>
              <a:t/>
            </a:r>
            <a:endParaRPr sz="1600">
              <a:solidFill>
                <a:schemeClr val="dk1"/>
              </a:solidFill>
              <a:latin typeface="Helvetica Neue"/>
              <a:ea typeface="Helvetica Neue"/>
              <a:cs typeface="Helvetica Neue"/>
              <a:sym typeface="Helvetica Neue"/>
            </a:endParaRPr>
          </a:p>
        </p:txBody>
      </p:sp>
      <p:sp>
        <p:nvSpPr>
          <p:cNvPr id="326" name="Google Shape;326;p37"/>
          <p:cNvSpPr txBox="1"/>
          <p:nvPr/>
        </p:nvSpPr>
        <p:spPr>
          <a:xfrm>
            <a:off x="4441450" y="1787688"/>
            <a:ext cx="44133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We implement a GRU-LightGCN architecture, where LightGCN first learns graph-enriched item embeddings by propagating information across the user–item interaction graph. </a:t>
            </a:r>
            <a:endParaRPr>
              <a:latin typeface="Helvetica Neue"/>
              <a:ea typeface="Helvetica Neue"/>
              <a:cs typeface="Helvetica Neue"/>
              <a:sym typeface="Helvetica Neue"/>
            </a:endParaRPr>
          </a:p>
        </p:txBody>
      </p:sp>
      <p:sp>
        <p:nvSpPr>
          <p:cNvPr id="327" name="Google Shape;327;p37"/>
          <p:cNvSpPr txBox="1"/>
          <p:nvPr/>
        </p:nvSpPr>
        <p:spPr>
          <a:xfrm>
            <a:off x="4488150" y="2765475"/>
            <a:ext cx="43074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These embeddings capture long-range relationships effectively encoding collaborative filtering signals.</a:t>
            </a:r>
            <a:endParaRPr>
              <a:latin typeface="Helvetica Neue"/>
              <a:ea typeface="Helvetica Neue"/>
              <a:cs typeface="Helvetica Neue"/>
              <a:sym typeface="Helvetica Neue"/>
            </a:endParaRPr>
          </a:p>
        </p:txBody>
      </p:sp>
      <p:sp>
        <p:nvSpPr>
          <p:cNvPr id="328" name="Google Shape;328;p37"/>
          <p:cNvSpPr txBox="1"/>
          <p:nvPr/>
        </p:nvSpPr>
        <p:spPr>
          <a:xfrm>
            <a:off x="4488150" y="3523737"/>
            <a:ext cx="43074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These graph-enhanced embeddings are then fed into a two-layer GRU, which processes the interaction sequence in order. </a:t>
            </a:r>
            <a:endParaRPr>
              <a:latin typeface="Helvetica Neue"/>
              <a:ea typeface="Helvetica Neue"/>
              <a:cs typeface="Helvetica Neue"/>
              <a:sym typeface="Helvetica Neue"/>
            </a:endParaRPr>
          </a:p>
        </p:txBody>
      </p:sp>
      <p:sp>
        <p:nvSpPr>
          <p:cNvPr id="329" name="Google Shape;329;p37"/>
          <p:cNvSpPr txBox="1"/>
          <p:nvPr/>
        </p:nvSpPr>
        <p:spPr>
          <a:xfrm>
            <a:off x="4488150" y="4217288"/>
            <a:ext cx="43074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2000"/>
              </a:spcBef>
              <a:spcAft>
                <a:spcPts val="0"/>
              </a:spcAft>
              <a:buClr>
                <a:schemeClr val="dk1"/>
              </a:buClr>
              <a:buSzPts val="1200"/>
              <a:buFont typeface="Helvetica Neue"/>
              <a:buChar char="●"/>
            </a:pPr>
            <a:r>
              <a:rPr lang="en-US" sz="1200">
                <a:solidFill>
                  <a:schemeClr val="dk1"/>
                </a:solidFill>
                <a:latin typeface="Helvetica Neue"/>
                <a:ea typeface="Helvetica Neue"/>
                <a:cs typeface="Helvetica Neue"/>
                <a:sym typeface="Helvetica Neue"/>
              </a:rPr>
              <a:t>At each timestep, the GRU updates a hidden state that summarises the user’s evolving preferences, capturing recency and sequential patterns.</a:t>
            </a:r>
            <a:endParaRPr>
              <a:latin typeface="Helvetica Neue"/>
              <a:ea typeface="Helvetica Neue"/>
              <a:cs typeface="Helvetica Neue"/>
              <a:sym typeface="Helvetica Neue"/>
            </a:endParaRPr>
          </a:p>
        </p:txBody>
      </p:sp>
      <p:sp>
        <p:nvSpPr>
          <p:cNvPr id="330" name="Google Shape;330;p37"/>
          <p:cNvSpPr txBox="1"/>
          <p:nvPr/>
        </p:nvSpPr>
        <p:spPr>
          <a:xfrm>
            <a:off x="226000" y="6050250"/>
            <a:ext cx="9144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20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8"/>
          <p:cNvSpPr txBox="1"/>
          <p:nvPr>
            <p:ph type="title"/>
          </p:nvPr>
        </p:nvSpPr>
        <p:spPr>
          <a:xfrm>
            <a:off x="1463844" y="225714"/>
            <a:ext cx="6216300" cy="521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990000"/>
              </a:buClr>
              <a:buSzPts val="2400"/>
              <a:buFont typeface="Helvetica Neue"/>
              <a:buNone/>
            </a:pPr>
            <a:r>
              <a:rPr lang="en-US"/>
              <a:t>Results</a:t>
            </a:r>
            <a:endParaRPr/>
          </a:p>
        </p:txBody>
      </p:sp>
      <p:sp>
        <p:nvSpPr>
          <p:cNvPr id="336" name="Google Shape;336;p38"/>
          <p:cNvSpPr txBox="1"/>
          <p:nvPr/>
        </p:nvSpPr>
        <p:spPr>
          <a:xfrm>
            <a:off x="224643" y="3336700"/>
            <a:ext cx="47577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Helvetica Neue"/>
              <a:buChar char="●"/>
            </a:pPr>
            <a:r>
              <a:rPr b="1" lang="en-US" sz="1800">
                <a:latin typeface="Helvetica Neue"/>
                <a:ea typeface="Helvetica Neue"/>
                <a:cs typeface="Helvetica Neue"/>
                <a:sym typeface="Helvetica Neue"/>
              </a:rPr>
              <a:t>BERT4Rec v2 </a:t>
            </a:r>
            <a:r>
              <a:rPr lang="en-US" sz="1800">
                <a:latin typeface="Helvetica Neue"/>
                <a:ea typeface="Helvetica Neue"/>
                <a:cs typeface="Helvetica Neue"/>
                <a:sym typeface="Helvetica Neue"/>
              </a:rPr>
              <a:t>performs best: strong gains from bidirectional content	</a:t>
            </a:r>
            <a:endParaRPr sz="1800">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Constraint: Only 38% true-item coverage on any post-processing</a:t>
            </a:r>
            <a:endParaRPr sz="1800">
              <a:latin typeface="Helvetica Neue"/>
              <a:ea typeface="Helvetica Neue"/>
              <a:cs typeface="Helvetica Neue"/>
              <a:sym typeface="Helvetica Neue"/>
            </a:endParaRPr>
          </a:p>
        </p:txBody>
      </p:sp>
      <p:sp>
        <p:nvSpPr>
          <p:cNvPr id="337" name="Google Shape;337;p38"/>
          <p:cNvSpPr txBox="1"/>
          <p:nvPr/>
        </p:nvSpPr>
        <p:spPr>
          <a:xfrm>
            <a:off x="643500" y="5104064"/>
            <a:ext cx="7857000" cy="738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Main takeaway:</a:t>
            </a:r>
            <a:r>
              <a:rPr lang="en-US" sz="1800">
                <a:solidFill>
                  <a:schemeClr val="dk1"/>
                </a:solidFill>
                <a:latin typeface="Helvetica Neue"/>
                <a:ea typeface="Helvetica Neue"/>
                <a:cs typeface="Helvetica Neue"/>
                <a:sym typeface="Helvetica Neue"/>
              </a:rPr>
              <a:t> Improving the base model + lightweight reranking is the most reliable path to near state-of-the-art performance.</a:t>
            </a:r>
            <a:endParaRPr sz="1800">
              <a:solidFill>
                <a:schemeClr val="dk1"/>
              </a:solidFill>
              <a:latin typeface="Helvetica Neue"/>
              <a:ea typeface="Helvetica Neue"/>
              <a:cs typeface="Helvetica Neue"/>
              <a:sym typeface="Helvetica Neue"/>
            </a:endParaRPr>
          </a:p>
        </p:txBody>
      </p:sp>
      <p:sp>
        <p:nvSpPr>
          <p:cNvPr id="338" name="Google Shape;338;p38"/>
          <p:cNvSpPr txBox="1"/>
          <p:nvPr/>
        </p:nvSpPr>
        <p:spPr>
          <a:xfrm>
            <a:off x="224650" y="5902050"/>
            <a:ext cx="76701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100">
                <a:solidFill>
                  <a:schemeClr val="dk1"/>
                </a:solidFill>
              </a:rPr>
              <a:t>HR@K (Hit Rate):</a:t>
            </a:r>
            <a:r>
              <a:rPr lang="en-US" sz="1100">
                <a:solidFill>
                  <a:schemeClr val="dk1"/>
                </a:solidFill>
              </a:rPr>
              <a:t> Did we recommend the correct item in the top K? (binary success metric)</a:t>
            </a:r>
            <a:br>
              <a:rPr lang="en-US" sz="1100">
                <a:solidFill>
                  <a:schemeClr val="dk1"/>
                </a:solidFill>
              </a:rPr>
            </a:br>
            <a:r>
              <a:rPr b="1" lang="en-US" sz="1100">
                <a:solidFill>
                  <a:schemeClr val="dk1"/>
                </a:solidFill>
              </a:rPr>
              <a:t>NDCG@K:</a:t>
            </a:r>
            <a:r>
              <a:rPr lang="en-US" sz="1100">
                <a:solidFill>
                  <a:schemeClr val="dk1"/>
                </a:solidFill>
              </a:rPr>
              <a:t> Measures ranking quality — rewards placing the correct item higher in the list.</a:t>
            </a:r>
            <a:br>
              <a:rPr lang="en-US" sz="1100">
                <a:solidFill>
                  <a:schemeClr val="dk1"/>
                </a:solidFill>
              </a:rPr>
            </a:br>
            <a:r>
              <a:rPr b="1" lang="en-US" sz="1100">
                <a:solidFill>
                  <a:schemeClr val="dk1"/>
                </a:solidFill>
              </a:rPr>
              <a:t>MRR (Mean Reciprocal Rank):</a:t>
            </a:r>
            <a:r>
              <a:rPr lang="en-US" sz="1100">
                <a:solidFill>
                  <a:schemeClr val="dk1"/>
                </a:solidFill>
              </a:rPr>
              <a:t> Focuses on how early the correct item appears — higher if it’s ranked near the top.</a:t>
            </a:r>
            <a:endParaRPr/>
          </a:p>
        </p:txBody>
      </p:sp>
      <p:pic>
        <p:nvPicPr>
          <p:cNvPr id="339" name="Google Shape;339;p38"/>
          <p:cNvPicPr preferRelativeResize="0"/>
          <p:nvPr/>
        </p:nvPicPr>
        <p:blipFill>
          <a:blip r:embed="rId3">
            <a:alphaModFix/>
          </a:blip>
          <a:stretch>
            <a:fillRect/>
          </a:stretch>
        </p:blipFill>
        <p:spPr>
          <a:xfrm>
            <a:off x="326176" y="822400"/>
            <a:ext cx="8491640" cy="2181288"/>
          </a:xfrm>
          <a:prstGeom prst="rect">
            <a:avLst/>
          </a:prstGeom>
          <a:noFill/>
          <a:ln>
            <a:noFill/>
          </a:ln>
        </p:spPr>
      </p:pic>
      <p:pic>
        <p:nvPicPr>
          <p:cNvPr id="340" name="Google Shape;340;p38"/>
          <p:cNvPicPr preferRelativeResize="0"/>
          <p:nvPr/>
        </p:nvPicPr>
        <p:blipFill>
          <a:blip r:embed="rId4">
            <a:alphaModFix/>
          </a:blip>
          <a:stretch>
            <a:fillRect/>
          </a:stretch>
        </p:blipFill>
        <p:spPr>
          <a:xfrm>
            <a:off x="5134825" y="3003700"/>
            <a:ext cx="3640124" cy="19590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9"/>
          <p:cNvSpPr txBox="1"/>
          <p:nvPr>
            <p:ph type="title"/>
          </p:nvPr>
        </p:nvSpPr>
        <p:spPr>
          <a:xfrm>
            <a:off x="1463844" y="225714"/>
            <a:ext cx="6216300" cy="521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990000"/>
              </a:buClr>
              <a:buSzPts val="2400"/>
              <a:buFont typeface="Helvetica Neue"/>
              <a:buNone/>
            </a:pPr>
            <a:r>
              <a:rPr lang="en-US"/>
              <a:t>Challenges</a:t>
            </a:r>
            <a:endParaRPr/>
          </a:p>
        </p:txBody>
      </p:sp>
      <p:sp>
        <p:nvSpPr>
          <p:cNvPr id="346" name="Google Shape;346;p39"/>
          <p:cNvSpPr txBox="1"/>
          <p:nvPr/>
        </p:nvSpPr>
        <p:spPr>
          <a:xfrm>
            <a:off x="270300" y="947550"/>
            <a:ext cx="8603400" cy="54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Problem: </a:t>
            </a:r>
            <a:r>
              <a:rPr lang="en-US" sz="1800">
                <a:solidFill>
                  <a:schemeClr val="dk1"/>
                </a:solidFill>
                <a:latin typeface="Helvetica Neue"/>
                <a:ea typeface="Helvetica Neue"/>
                <a:cs typeface="Helvetica Neue"/>
                <a:sym typeface="Helvetica Neue"/>
              </a:rPr>
              <a:t>Creating </a:t>
            </a:r>
            <a:r>
              <a:rPr i="1" lang="en-US" sz="1800">
                <a:solidFill>
                  <a:schemeClr val="dk1"/>
                </a:solidFill>
                <a:latin typeface="Helvetica Neue"/>
                <a:ea typeface="Helvetica Neue"/>
                <a:cs typeface="Helvetica Neue"/>
                <a:sym typeface="Helvetica Neue"/>
              </a:rPr>
              <a:t>realistic synthetic </a:t>
            </a:r>
            <a:r>
              <a:rPr lang="en-US" sz="1800">
                <a:solidFill>
                  <a:schemeClr val="dk1"/>
                </a:solidFill>
                <a:latin typeface="Helvetica Neue"/>
                <a:ea typeface="Helvetica Neue"/>
                <a:cs typeface="Helvetica Neue"/>
                <a:sym typeface="Helvetica Neue"/>
              </a:rPr>
              <a:t>data for a movie recommender is difficult for emulating real watch history.</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Solution:</a:t>
            </a:r>
            <a:r>
              <a:rPr lang="en-US" sz="1800">
                <a:solidFill>
                  <a:schemeClr val="dk1"/>
                </a:solidFill>
                <a:latin typeface="Helvetica Neue"/>
                <a:ea typeface="Helvetica Neue"/>
                <a:cs typeface="Helvetica Neue"/>
                <a:sym typeface="Helvetica Neue"/>
              </a:rPr>
              <a:t> Use a </a:t>
            </a:r>
            <a:r>
              <a:rPr lang="en-US" sz="1800" u="sng">
                <a:solidFill>
                  <a:schemeClr val="hlink"/>
                </a:solidFill>
                <a:latin typeface="Helvetica Neue"/>
                <a:ea typeface="Helvetica Neue"/>
                <a:cs typeface="Helvetica Neue"/>
                <a:sym typeface="Helvetica Neue"/>
                <a:hlinkClick r:id="rId3"/>
              </a:rPr>
              <a:t>real-world Netflix user history dataset</a:t>
            </a:r>
            <a:r>
              <a:rPr lang="en-US"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Problem: </a:t>
            </a:r>
            <a:r>
              <a:rPr lang="en-US" sz="1800">
                <a:solidFill>
                  <a:schemeClr val="dk1"/>
                </a:solidFill>
                <a:latin typeface="Helvetica Neue"/>
                <a:ea typeface="Helvetica Neue"/>
                <a:cs typeface="Helvetica Neue"/>
                <a:sym typeface="Helvetica Neue"/>
              </a:rPr>
              <a:t>Relying only on movie watch history data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Solution: </a:t>
            </a:r>
            <a:r>
              <a:rPr lang="en-US" sz="1800">
                <a:solidFill>
                  <a:schemeClr val="dk1"/>
                </a:solidFill>
                <a:latin typeface="Helvetica Neue"/>
                <a:ea typeface="Helvetica Neue"/>
                <a:cs typeface="Helvetica Neue"/>
                <a:sym typeface="Helvetica Neue"/>
              </a:rPr>
              <a:t>Enhance initial ranking by incorporating real-world review and clickstream data alongside watch history.</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Problem*:</a:t>
            </a:r>
            <a:r>
              <a:rPr lang="en-US" sz="1800">
                <a:solidFill>
                  <a:schemeClr val="dk1"/>
                </a:solidFill>
                <a:latin typeface="Helvetica Neue"/>
                <a:ea typeface="Helvetica Neue"/>
                <a:cs typeface="Helvetica Neue"/>
                <a:sym typeface="Helvetica Neue"/>
              </a:rPr>
              <a:t> Current movie features are too coarse—basic titles and review embeddings. Model performance is not great.</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Solution:</a:t>
            </a:r>
            <a:r>
              <a:rPr lang="en-US" sz="1800">
                <a:solidFill>
                  <a:schemeClr val="dk1"/>
                </a:solidFill>
                <a:latin typeface="Helvetica Neue"/>
                <a:ea typeface="Helvetica Neue"/>
                <a:cs typeface="Helvetica Neue"/>
                <a:sym typeface="Helvetica Neue"/>
              </a:rPr>
              <a:t> Enrich each movie with contextualized embeddings built from </a:t>
            </a:r>
            <a:r>
              <a:rPr lang="en-US" sz="1800" u="sng">
                <a:solidFill>
                  <a:schemeClr val="lt2"/>
                </a:solidFill>
                <a:latin typeface="Helvetica Neue"/>
                <a:ea typeface="Helvetica Neue"/>
                <a:cs typeface="Helvetica Neue"/>
                <a:sym typeface="Helvetica Neue"/>
                <a:hlinkClick r:id="rId4">
                  <a:extLst>
                    <a:ext uri="{A12FA001-AC4F-418D-AE19-62706E023703}">
                      <ahyp:hlinkClr val="tx"/>
                    </a:ext>
                  </a:extLst>
                </a:hlinkClick>
              </a:rPr>
              <a:t>metadata</a:t>
            </a:r>
            <a:r>
              <a:rPr lang="en-US" sz="1800">
                <a:solidFill>
                  <a:schemeClr val="dk1"/>
                </a:solidFill>
                <a:latin typeface="Helvetica Neue"/>
                <a:ea typeface="Helvetica Neue"/>
                <a:cs typeface="Helvetica Neue"/>
                <a:sym typeface="Helvetica Neue"/>
              </a:rPr>
              <a:t>, plot summaries, actors, and related attributes</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Problem*: </a:t>
            </a:r>
            <a:r>
              <a:rPr lang="en-US" sz="1800">
                <a:solidFill>
                  <a:schemeClr val="dk1"/>
                </a:solidFill>
                <a:latin typeface="Helvetica Neue"/>
                <a:ea typeface="Helvetica Neue"/>
                <a:cs typeface="Helvetica Neue"/>
                <a:sym typeface="Helvetica Neue"/>
              </a:rPr>
              <a:t>Varying model architectures have adverse results to the same hypertuning change</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1800">
                <a:solidFill>
                  <a:schemeClr val="dk1"/>
                </a:solidFill>
                <a:latin typeface="Helvetica Neue"/>
                <a:ea typeface="Helvetica Neue"/>
                <a:cs typeface="Helvetica Neue"/>
                <a:sym typeface="Helvetica Neue"/>
              </a:rPr>
              <a:t>Solution: </a:t>
            </a:r>
            <a:r>
              <a:rPr lang="en-US" sz="1800">
                <a:solidFill>
                  <a:schemeClr val="dk1"/>
                </a:solidFill>
                <a:latin typeface="Helvetica Neue"/>
                <a:ea typeface="Helvetica Neue"/>
                <a:cs typeface="Helvetica Neue"/>
                <a:sym typeface="Helvetica Neue"/>
              </a:rPr>
              <a:t>Finalize a model (BERT4Rec or ensemble), and optimize/hypertune for that model specifically</a:t>
            </a:r>
            <a:endParaRPr sz="1800">
              <a:latin typeface="Helvetica Neue"/>
              <a:ea typeface="Helvetica Neue"/>
              <a:cs typeface="Helvetica Neue"/>
              <a:sym typeface="Helvetica Neue"/>
            </a:endParaRPr>
          </a:p>
        </p:txBody>
      </p:sp>
      <p:sp>
        <p:nvSpPr>
          <p:cNvPr id="347" name="Google Shape;347;p39"/>
          <p:cNvSpPr txBox="1"/>
          <p:nvPr/>
        </p:nvSpPr>
        <p:spPr>
          <a:xfrm>
            <a:off x="6792750" y="6243775"/>
            <a:ext cx="128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a:solidFill>
                  <a:schemeClr val="dk1"/>
                </a:solidFill>
                <a:latin typeface="Helvetica Neue"/>
                <a:ea typeface="Helvetica Neue"/>
                <a:cs typeface="Helvetica Neue"/>
                <a:sym typeface="Helvetica Neue"/>
              </a:rPr>
              <a:t>* = Unsolved</a:t>
            </a:r>
            <a:endParaRPr b="1" i="1"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type="title"/>
          </p:nvPr>
        </p:nvSpPr>
        <p:spPr>
          <a:xfrm>
            <a:off x="2053244" y="237614"/>
            <a:ext cx="6216300" cy="521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990000"/>
              </a:buClr>
              <a:buSzPts val="2400"/>
              <a:buFont typeface="Helvetica Neue"/>
              <a:buNone/>
            </a:pPr>
            <a:r>
              <a:rPr lang="en-US"/>
              <a:t>Next Objectives</a:t>
            </a:r>
            <a:endParaRPr/>
          </a:p>
        </p:txBody>
      </p:sp>
      <p:sp>
        <p:nvSpPr>
          <p:cNvPr id="353" name="Google Shape;353;p40"/>
          <p:cNvSpPr txBox="1"/>
          <p:nvPr/>
        </p:nvSpPr>
        <p:spPr>
          <a:xfrm>
            <a:off x="712725" y="1077000"/>
            <a:ext cx="7299900" cy="53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Helvetica Neue"/>
                <a:ea typeface="Helvetica Neue"/>
                <a:cs typeface="Helvetica Neue"/>
                <a:sym typeface="Helvetica Neue"/>
              </a:rPr>
              <a:t>Completed</a:t>
            </a:r>
            <a:endParaRPr b="1"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Dataset merging, synthesis, preprocessing</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Initial Results</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V1 model using movie review data</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V2 model using movie metadata embeddings</a:t>
            </a:r>
            <a:endParaRPr sz="1800">
              <a:latin typeface="Helvetica Neue"/>
              <a:ea typeface="Helvetica Neue"/>
              <a:cs typeface="Helvetica Neue"/>
              <a:sym typeface="Helvetica Neue"/>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a:p>
            <a:pPr indent="0" lvl="0" marL="0" rtl="0" algn="l">
              <a:spcBef>
                <a:spcPts val="0"/>
              </a:spcBef>
              <a:spcAft>
                <a:spcPts val="0"/>
              </a:spcAft>
              <a:buNone/>
            </a:pPr>
            <a:r>
              <a:rPr b="1" lang="en-US" sz="1800">
                <a:latin typeface="Helvetica Neue"/>
                <a:ea typeface="Helvetica Neue"/>
                <a:cs typeface="Helvetica Neue"/>
                <a:sym typeface="Helvetica Neue"/>
              </a:rPr>
              <a:t>Next Milestones</a:t>
            </a:r>
            <a:endParaRPr b="1"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solidFill>
                  <a:schemeClr val="dk1"/>
                </a:solidFill>
                <a:latin typeface="Helvetica Neue"/>
                <a:ea typeface="Helvetica Neue"/>
                <a:cs typeface="Helvetica Neue"/>
                <a:sym typeface="Helvetica Neue"/>
              </a:rPr>
              <a:t>April 25: </a:t>
            </a:r>
            <a:r>
              <a:rPr lang="en-US" sz="1800">
                <a:latin typeface="Helvetica Neue"/>
                <a:ea typeface="Helvetica Neue"/>
                <a:cs typeface="Helvetica Neue"/>
                <a:sym typeface="Helvetica Neue"/>
              </a:rPr>
              <a:t>Model fine-tuning and evaluation and improvements </a:t>
            </a:r>
            <a:endParaRPr sz="1800">
              <a:latin typeface="Helvetica Neue"/>
              <a:ea typeface="Helvetica Neue"/>
              <a:cs typeface="Helvetica Neue"/>
              <a:sym typeface="Helvetica Neue"/>
            </a:endParaRPr>
          </a:p>
          <a:p>
            <a:pPr indent="-342900" lvl="1" marL="9144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Increase features (movie metadata), Improve results</a:t>
            </a:r>
            <a:endParaRPr sz="1800">
              <a:latin typeface="Helvetica Neue"/>
              <a:ea typeface="Helvetica Neue"/>
              <a:cs typeface="Helvetica Neue"/>
              <a:sym typeface="Helvetica Neue"/>
            </a:endParaRPr>
          </a:p>
          <a:p>
            <a:pPr indent="-342900" lvl="1" marL="9144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BERT4Rec finetuning</a:t>
            </a:r>
            <a:endParaRPr sz="1800">
              <a:latin typeface="Helvetica Neue"/>
              <a:ea typeface="Helvetica Neue"/>
              <a:cs typeface="Helvetica Neue"/>
              <a:sym typeface="Helvetica Neue"/>
            </a:endParaRPr>
          </a:p>
          <a:p>
            <a:pPr indent="-342900" lvl="2" marL="1371600" rtl="0" algn="l">
              <a:spcBef>
                <a:spcPts val="0"/>
              </a:spcBef>
              <a:spcAft>
                <a:spcPts val="0"/>
              </a:spcAft>
              <a:buSzPts val="1800"/>
              <a:buFont typeface="Helvetica Neue"/>
              <a:buChar char="■"/>
            </a:pPr>
            <a:r>
              <a:rPr lang="en-US" sz="1800">
                <a:solidFill>
                  <a:schemeClr val="dk1"/>
                </a:solidFill>
                <a:latin typeface="Helvetica Neue"/>
                <a:ea typeface="Helvetica Neue"/>
                <a:cs typeface="Helvetica Neue"/>
                <a:sym typeface="Helvetica Neue"/>
              </a:rPr>
              <a:t>Reranker, Aux Fine-tuning, DPO, RL techniques </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solidFill>
                  <a:schemeClr val="dk1"/>
                </a:solidFill>
                <a:latin typeface="Helvetica Neue"/>
                <a:ea typeface="Helvetica Neue"/>
                <a:cs typeface="Helvetica Neue"/>
                <a:sym typeface="Helvetica Neue"/>
              </a:rPr>
              <a:t>April 27: Further investigation &amp; improvements </a:t>
            </a:r>
            <a:endParaRPr sz="1800">
              <a:solidFill>
                <a:schemeClr val="dk1"/>
              </a:solidFill>
              <a:latin typeface="Helvetica Neue"/>
              <a:ea typeface="Helvetica Neue"/>
              <a:cs typeface="Helvetica Neue"/>
              <a:sym typeface="Helvetica Neue"/>
            </a:endParaRPr>
          </a:p>
          <a:p>
            <a:pPr indent="-342900" lvl="1" marL="914400" rtl="0" algn="l">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Model ensemble</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a:p>
            <a:pPr indent="0" lvl="0" marL="0" rtl="0" algn="l">
              <a:spcBef>
                <a:spcPts val="0"/>
              </a:spcBef>
              <a:spcAft>
                <a:spcPts val="0"/>
              </a:spcAft>
              <a:buNone/>
            </a:pPr>
            <a:r>
              <a:rPr b="1" lang="en-US" sz="1800">
                <a:latin typeface="Helvetica Neue"/>
                <a:ea typeface="Helvetica Neue"/>
                <a:cs typeface="Helvetica Neue"/>
                <a:sym typeface="Helvetica Neue"/>
              </a:rPr>
              <a:t>Final </a:t>
            </a:r>
            <a:r>
              <a:rPr b="1" lang="en-US" sz="1800">
                <a:latin typeface="Helvetica Neue"/>
                <a:ea typeface="Helvetica Neue"/>
                <a:cs typeface="Helvetica Neue"/>
                <a:sym typeface="Helvetica Neue"/>
              </a:rPr>
              <a:t>Deliverables</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Improved models (metadata + engagement-aware)</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US" sz="1800">
                <a:latin typeface="Helvetica Neue"/>
                <a:ea typeface="Helvetica Neue"/>
                <a:cs typeface="Helvetica Neue"/>
                <a:sym typeface="Helvetica Neue"/>
              </a:rPr>
              <a:t>Movie scoring + platform recommendation system</a:t>
            </a:r>
            <a:endParaRPr sz="1800">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457200" y="2327960"/>
            <a:ext cx="8229600" cy="18441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400"/>
              <a:buFont typeface="Helvetica Neue"/>
              <a:buNone/>
            </a:pPr>
            <a:r>
              <a:rPr lang="en-US" sz="8000"/>
              <a:t>Thank You!</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FFCC00"/>
      </a:dk2>
      <a:lt2>
        <a:srgbClr val="990000"/>
      </a:lt2>
      <a:accent1>
        <a:srgbClr val="000000"/>
      </a:accent1>
      <a:accent2>
        <a:srgbClr val="404040"/>
      </a:accent2>
      <a:accent3>
        <a:srgbClr val="808080"/>
      </a:accent3>
      <a:accent4>
        <a:srgbClr val="BFBFBF"/>
      </a:accent4>
      <a:accent5>
        <a:srgbClr val="CECECE"/>
      </a:accent5>
      <a:accent6>
        <a:srgbClr val="FFFFFF"/>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FFCC00"/>
      </a:dk2>
      <a:lt2>
        <a:srgbClr val="990000"/>
      </a:lt2>
      <a:accent1>
        <a:srgbClr val="000000"/>
      </a:accent1>
      <a:accent2>
        <a:srgbClr val="404040"/>
      </a:accent2>
      <a:accent3>
        <a:srgbClr val="808080"/>
      </a:accent3>
      <a:accent4>
        <a:srgbClr val="BFBFBF"/>
      </a:accent4>
      <a:accent5>
        <a:srgbClr val="CECECE"/>
      </a:accent5>
      <a:accent6>
        <a:srgbClr val="FFFFFF"/>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